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這是一份可直接照著操作的專題手冊。畫面來自本專題的實際桌面與手機介面，範例帳號及金額均為展示資料。請先看第4至7頁啟動，再依需要閱讀功能章節。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本手冊建議先使用SQLite免Docker模式，這仍然有真實後端及資料庫。請在同時有run.py、backend、frontend的根目錄執行。若Python指令不存在，安裝Python3.12並重新開啟終端機。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先安裝Python3.12，將終端機切到專案根目錄。若Windows只有py命令，第一行可用py -3.12 -m venv .venv。這裡直接呼叫虛擬環境python，無須執行Activate.ps1，也可避開PowerShell腳本政策問題。第二次使用可省略建立虛擬環境，只執行啟動指令。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公開開發帳號僅由本機開發啟動器建立，正式環境不建立。建議正式展示使用新帳號，避免既有展示交易影響統計。本機沒有強制信箱驗證時可進初次設定，但仍應示範驗證流程。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驗證頁輸入註冊信箱並申請連結。本機development未設定郵件服務時，畫面明示開發展示連結、未寄出郵件，點開後再按驗證確認。正式環境需真正收到郵件，未驗證不可登入。連結30分鐘、單次有效；重寄後舊連結失效，請使用最新一封。真實Brevo寄送尚未驗證，勿對觀眾宣稱已寄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手動按鈕第一次會進入4秒確認狀態；超時會恢復「寫入這一筆」，需要重新確認。若點按後仍在寫入中請等待，不要快速重複操作。若沒有成功訊息，先查明細再重試，避免同一消費重複記錄。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來源標示Rule-based parsing代表規則備援，不是已微調AI。欄位旁百分比是核對參考，不是模型實測準確率。此例4筆需人工核對分類、收支和45元咖啡金額，才能得到收入30000、支出55+30+45=130。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月存款目標與分類預算都只能由本人設定，家長不能代子女改。花到幾成提醒我可輸入比例並選整體或指定帳本，按加入；可切換開關，×刪除，同一提醒每月只提示一次。產生建議依實際畫面顯示規則或模型來源，不能作為模型訓練成果。零用金設定本身不會自動新增收支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如換算試算顯示新臺幣參考值，但銀行帳單含手續費或不同買賣匯率，請直接改成銀行實際扣款。自動帶入只是預填，不會自動寫入。若在其他貨幣結果上使用入帳入口，介面會明示改以TWD重新換算，而不是把外幣數字當新臺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主要來源ExchangeRate-API Open Access，備援currency-api每日資料。主來源不可用時會改用備援並明示。更新時間可能不同於操作當下，應看來源提供的資料日期。伺服器會快取並限制刷新頻率；使用舊資料會明示，完全沒有可用行情則回報不可用，不填假數字。記帳本位幣仍是TWD，不支援將USD、JPY原額直接混加。截圖為2026-10-15資料的一次試算，100.50USD約3236.87TWD；實際使用請看當時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邀請碼一次使用、期限依畫面。另可用帳號邀請：輸入對方完整Email→找人→選身分→送出邀請；對方家庭頁收到的邀請按加入或婉拒。不要共享帳密，使用兩個帳號展示權限。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設帳本沒有固定結束日。活動帳本結算後不能再新增修改刪除紀錄或變更成員。封存是把帳本從常用清單收起，可到已封存→看看→復原。移除僅限已結算活動帳本，不能復原，但原始紀錄仍留在各自明細。初次使用請先使用個人帳本，等基本流程熟悉後再新增共享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次已以320至390像素手機視窗操作背景、匯率、手動記帳等功能。手機需要可連線的網站網址，電腦localhost只代表電腦本身，不能在另一台手機直接使用。若目前僅啟動本機，先在桌面練習；依第35頁部署並驗收後，再用手機開公開網址。不要把HTTPS網站的api設定成手機的localhost。手機更換背景照片可選相簿或拍照，原檔仍只存該手機瀏覽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序做：啟動SQLite→新帳號→信箱驗證（如實說明本機未寄信）→完成初次設定→手動收入30000→早餐55→捷運30→咖啡45→每月存5000→餐飲預算1000→總覽統計驗算→換匯試算但暫不入帳→選照片重新整理→重啟確認資料。這個固定練習使用手動金額，讓計算結果可驗算。文字解析可另外先預覽、不要重複寫入同筆消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詳細步驟見docs/05-部署指南.md。先檢閱程式與來源，再依文件提交到自己的GitHub main；本次沒有替使用者推送。Render New→Blueprint選自己的repo與main，讀render.yaml，建立同源FastAPI前後端及PostgreSQL。密鑰只填平台環境設定，不放PPT或Git。Brevo需金鑰及已驗證寄件信箱，APP_BASE_URL填自己網站。正式環境要求驗證，未配寄信時新使用者不能完成登入，不可用demo連結冒充正式寄送。模型服務可選，目前未微調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閱讀導覽</a:t>
            </a:r>
          </a:p>
          <a:p>
            <a:r>
              <a:t>這份簡報怎麼看？</a:t>
            </a:r>
          </a:p>
          <a:p>
            <a:r>
              <a:t>第一次使用：依① → ② → ③操作；其他功能可依頁碼直接查閱。</a:t>
            </a:r>
          </a:p>
          <a:p/>
          <a:p>
            <a:r>
              <a:t>介紹與操作使用手冊  ·  桌面／手機皆適用</a:t>
            </a:r>
          </a:p>
          <a:p>
            <a:r>
              <a:t>02</a:t>
            </a:r>
          </a:p>
          <a:p/>
          <a:p>
            <a:r>
              <a:t>①  第 4–10 頁</a:t>
            </a:r>
          </a:p>
          <a:p>
            <a:r>
              <a:t>先啟動與登入</a:t>
            </a:r>
          </a:p>
          <a:p>
            <a:r>
              <a:t>環境準備、啟動指令</a:t>
            </a:r>
          </a:p>
          <a:p>
            <a:r>
              <a:t>註冊、信箱驗證</a:t>
            </a:r>
          </a:p>
          <a:p>
            <a:r>
              <a:t>初次設定與個人帳本</a:t>
            </a:r>
          </a:p>
          <a:p/>
          <a:p>
            <a:r>
              <a:t>②  第 14–22 頁</a:t>
            </a:r>
          </a:p>
          <a:p>
            <a:r>
              <a:t>每天的記帳</a:t>
            </a:r>
          </a:p>
          <a:p>
            <a:r>
              <a:t>總覽與手動實際金額</a:t>
            </a:r>
          </a:p>
          <a:p>
            <a:r>
              <a:t>文字解析、修改明細</a:t>
            </a:r>
          </a:p>
          <a:p>
            <a:r>
              <a:t>統計、預算、存錢計畫</a:t>
            </a:r>
          </a:p>
          <a:p/>
          <a:p>
            <a:r>
              <a:t>③  第 23–36 頁</a:t>
            </a:r>
          </a:p>
          <a:p>
            <a:r>
              <a:t>進階與手機</a:t>
            </a:r>
          </a:p>
          <a:p>
            <a:r>
              <a:t>匯率換算與帶入記帳</a:t>
            </a:r>
          </a:p>
          <a:p>
            <a:r>
              <a:t>家庭、帳本、手機</a:t>
            </a:r>
          </a:p>
          <a:p>
            <a:r>
              <a:t>練習、排錯與發表</a:t>
            </a:r>
          </a:p>
          <a:p/>
          <a:p>
            <a:r>
              <a:t>想先換登入背景？看第 11–13 頁。想完整走一輪？照第 33 頁的練習做。</a:t>
            </a:r>
          </a:p>
          <a:p>
            <a:r>
              <a:t>點此前往 →</a:t>
            </a:r>
          </a:p>
          <a:p>
            <a:r>
              <a:t>點此前往 →</a:t>
            </a:r>
          </a:p>
          <a:p>
            <a:r>
              <a:t>點此前往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專題介紹</a:t>
            </a:r>
          </a:p>
          <a:p>
            <a:r>
              <a:t>這個專題可以幫你做什麼？</a:t>
            </a:r>
          </a:p>
          <a:p>
            <a:r>
              <a:t>適合個人、家庭與有海外支出需求的人；目前帳本以新臺幣 TWD 統計。</a:t>
            </a:r>
          </a:p>
          <a:p/>
          <a:p>
            <a:r>
              <a:t>介紹與操作使用手冊  ·  桌面／手機皆適用</a:t>
            </a:r>
          </a:p>
          <a:p>
            <a:r>
              <a:t>03</a:t>
            </a:r>
          </a:p>
          <a:p/>
          <a:p>
            <a:r>
              <a:t>RECORD  /  記錄</a:t>
            </a:r>
          </a:p>
          <a:p>
            <a:r>
              <a:t>記下真實收支</a:t>
            </a:r>
          </a:p>
          <a:p>
            <a:r>
              <a:t>直接手動填金額</a:t>
            </a:r>
          </a:p>
          <a:p>
            <a:r>
              <a:t>一段文字拆成多筆</a:t>
            </a:r>
          </a:p>
          <a:p>
            <a:r>
              <a:t>確認後才正式入帳</a:t>
            </a:r>
          </a:p>
          <a:p/>
          <a:p>
            <a:r>
              <a:t>UNDERSTAND  /  理解</a:t>
            </a:r>
          </a:p>
          <a:p>
            <a:r>
              <a:t>看懂錢花在哪</a:t>
            </a:r>
          </a:p>
          <a:p>
            <a:r>
              <a:t>收入、支出與結餘</a:t>
            </a:r>
          </a:p>
          <a:p>
            <a:r>
              <a:t>分類比例與期間統計</a:t>
            </a:r>
          </a:p>
          <a:p>
            <a:r>
              <a:t>預算、存款目標與建議</a:t>
            </a:r>
          </a:p>
          <a:p/>
          <a:p>
            <a:r>
              <a:t>SHARE  /  協作</a:t>
            </a:r>
          </a:p>
          <a:p>
            <a:r>
              <a:t>一起管理生活</a:t>
            </a:r>
          </a:p>
          <a:p>
            <a:r>
              <a:t>家庭邀請與監管</a:t>
            </a:r>
          </a:p>
          <a:p>
            <a:r>
              <a:t>個人及共享帳本</a:t>
            </a:r>
          </a:p>
          <a:p>
            <a:r>
              <a:t>外幣試算後轉 TWD</a:t>
            </a:r>
          </a:p>
          <a:p/>
          <a:p>
            <a:r>
              <a:t>資料流程：瀏覽器介面 → FastAPI 後端 → 資料庫；重新整理後仍可讀到已確認的紀錄。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01  啟動專題</a:t>
            </a:r>
          </a:p>
          <a:p>
            <a:r>
              <a:t>macOS／Linux：啟動與安全停止</a:t>
            </a:r>
          </a:p>
          <a:p>
            <a:r>
              <a:t>SQLite 展示模式會把紀錄保存在 backend/demo.db，停止後不會自動清空。</a:t>
            </a:r>
          </a:p>
          <a:p/>
          <a:p>
            <a:r>
              <a:t>介紹與操作使用手冊  ·  桌面／手機皆適用</a:t>
            </a:r>
          </a:p>
          <a:p>
            <a:r>
              <a:t>06</a:t>
            </a:r>
          </a:p>
          <a:p>
            <a:r>
              <a:t>① 第一次建立環境</a:t>
            </a:r>
          </a:p>
          <a:p/>
          <a:p>
            <a:r>
              <a:t>python3 -m venv .venv</a:t>
            </a:r>
          </a:p>
          <a:p>
            <a:r>
              <a:t>② 每次使用時啟動</a:t>
            </a:r>
          </a:p>
          <a:p/>
          <a:p>
            <a:r>
              <a:t>./.venv/bin/python run.py --sqlite</a:t>
            </a:r>
          </a:p>
          <a:p/>
          <a:p>
            <a:r>
              <a:t>停止、再啟動、資料在哪？</a:t>
            </a:r>
          </a:p>
          <a:p>
            <a:r>
              <a:t>用完回到終端機按 Ctrl + C。</a:t>
            </a:r>
          </a:p>
          <a:p>
            <a:r>
              <a:t>下次執行同一啟動指令。</a:t>
            </a:r>
          </a:p>
          <a:p>
            <a:r>
              <a:t>SQLite 紀錄仍在原專案資料夾。</a:t>
            </a:r>
          </a:p>
          <a:p>
            <a:r>
              <a:t>要換電腦，先保留資料庫備份。</a:t>
            </a:r>
          </a:p>
          <a:p/>
          <a:p>
            <a:r>
              <a:t>不要把 --reset 當作重啟指令：它會刪除本機開發資料庫。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01  啟動專題</a:t>
            </a:r>
          </a:p>
          <a:p>
            <a:r>
              <a:t>開啟哪個網址？如何確認正在用真後端？</a:t>
            </a:r>
          </a:p>
          <a:p>
            <a:r>
              <a:t>使用啟動器印出的完整前端網址；以下是預設埠號的本機範例。</a:t>
            </a:r>
          </a:p>
          <a:p/>
          <a:p>
            <a:r>
              <a:t>介紹與操作使用手冊  ·  桌面／手機皆適用</a:t>
            </a:r>
          </a:p>
          <a:p>
            <a:r>
              <a:t>07</a:t>
            </a:r>
          </a:p>
          <a:p/>
          <a:p>
            <a:r>
              <a:t>http://localhost:5174/?api=http://localhost:8000</a:t>
            </a:r>
          </a:p>
          <a:p/>
          <a:p>
            <a:r>
              <a:t>入口／模式</a:t>
            </a:r>
          </a:p>
          <a:p/>
          <a:p>
            <a:r>
              <a:t>用途</a:t>
            </a:r>
          </a:p>
          <a:p/>
          <a:p>
            <a:r>
              <a:t>前端 5174</a:t>
            </a:r>
          </a:p>
          <a:p/>
          <a:p>
            <a:r>
              <a:t>實際操作畫面：登入、記帳、統計與家庭。</a:t>
            </a:r>
          </a:p>
          <a:p/>
          <a:p>
            <a:r>
              <a:t>後端 8000/docs</a:t>
            </a:r>
          </a:p>
          <a:p/>
          <a:p>
            <a:r>
              <a:t>API 互動文件，主要供開發與測試使用。</a:t>
            </a:r>
          </a:p>
          <a:p/>
          <a:p>
            <a:r>
              <a:t>頁尾「已連接後端」</a:t>
            </a:r>
          </a:p>
          <a:p/>
          <a:p>
            <a:r>
              <a:t>這次的記帳會經由後端寫入資料庫。</a:t>
            </a:r>
          </a:p>
          <a:p/>
          <a:p>
            <a:r>
              <a:t>--front-only 模擬模式</a:t>
            </a:r>
          </a:p>
          <a:p/>
          <a:p>
            <a:r>
              <a:t>資料只存在目前瀏覽器，不能當後端驗收。</a:t>
            </a:r>
          </a:p>
          <a:p/>
          <a:p>
            <a:r>
              <a:t>localhost 指目前這台電腦；這不是已公開的網站。手機連線方式見第 30 頁。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02  帳號與驗證</a:t>
            </a:r>
          </a:p>
          <a:p>
            <a:r>
              <a:t>初次設定：先建立自己的記帳起點</a:t>
            </a:r>
          </a:p>
          <a:p>
            <a:r>
              <a:t>註冊／首次登入後，依序完成「存錢目標 → 理財習慣 → 主題」。</a:t>
            </a:r>
          </a:p>
          <a:p/>
          <a:p>
            <a:r>
              <a:t>介紹與操作使用手冊  ·  桌面／手機皆適用</a:t>
            </a:r>
          </a:p>
          <a:p>
            <a:r>
              <a:t>10</a:t>
            </a:r>
          </a:p>
          <a:p/>
          <a:p>
            <a:r>
              <a:t>1</a:t>
            </a:r>
          </a:p>
          <a:p>
            <a:r>
              <a:t>先填每月想存多少</a:t>
            </a:r>
          </a:p>
          <a:p>
            <a:r>
              <a:t>例如 5,000；之後可到個人資料改。</a:t>
            </a:r>
          </a:p>
          <a:p/>
          <a:p>
            <a:r>
              <a:t>2</a:t>
            </a:r>
          </a:p>
          <a:p>
            <a:r>
              <a:t>選理財習慣與畫面主題</a:t>
            </a:r>
          </a:p>
          <a:p>
            <a:r>
              <a:t>依自己的情況選；也可以跳過。</a:t>
            </a:r>
          </a:p>
          <a:p/>
          <a:p>
            <a:r>
              <a:t>3</a:t>
            </a:r>
          </a:p>
          <a:p>
            <a:r>
              <a:t>完成，開始記帳</a:t>
            </a:r>
          </a:p>
          <a:p>
            <a:r>
              <a:t>沒有帳本時會建立「個人帳本」。</a:t>
            </a:r>
          </a:p>
          <a:p>
            <a:r>
              <a:t>全部先跳過也能開始使用。</a:t>
            </a:r>
          </a:p>
          <a:p/>
          <a:p/>
          <a:p>
            <a:r>
              <a:t>登入後的主題與登入頁背景分開設定；換主題不會替換你的登入背景照片。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03  自由背景</a:t>
            </a:r>
          </a:p>
          <a:p>
            <a:r>
              <a:t>登入背景：三種預設，隨時切換</a:t>
            </a:r>
          </a:p>
          <a:p>
            <a:r>
              <a:t>在登入或註冊頁展開「登入背景」，直接點選樣式；選擇會保存在此裝置。</a:t>
            </a:r>
          </a:p>
          <a:p/>
          <a:p>
            <a:r>
              <a:t>介紹與操作使用手冊  ·  桌面／手機皆適用</a:t>
            </a:r>
          </a:p>
          <a:p>
            <a:r>
              <a:t>11</a:t>
            </a:r>
          </a:p>
          <a:p/>
          <a:p>
            <a:r>
              <a:t>紙上晨光</a:t>
            </a:r>
          </a:p>
          <a:p>
            <a:r>
              <a:t>Paper Sunrise</a:t>
            </a:r>
          </a:p>
          <a:p/>
          <a:p>
            <a:r>
              <a:t>森林微風</a:t>
            </a:r>
          </a:p>
          <a:p>
            <a:r>
              <a:t>Forest Breeze</a:t>
            </a:r>
          </a:p>
          <a:p/>
          <a:p>
            <a:r>
              <a:t>星空暮色</a:t>
            </a:r>
          </a:p>
          <a:p>
            <a:r>
              <a:t>Starry Dusk</a:t>
            </a:r>
          </a:p>
          <a:p/>
          <a:p>
            <a:r>
              <a:t>第四種「自己的照片 Your Photo」可選相簿、檔案或手機拍照，下一頁示範。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03  自由背景</a:t>
            </a:r>
          </a:p>
          <a:p>
            <a:r>
              <a:t>第四種：用自己的照片作登入背景</a:t>
            </a:r>
          </a:p>
          <a:p>
            <a:r>
              <a:t>入口：登入背景 →「自己的照片」。照片只存在目前裝置，不會傳到記帳後端。</a:t>
            </a:r>
          </a:p>
          <a:p/>
          <a:p>
            <a:r>
              <a:t>介紹與操作使用手冊  ·  桌面／手機皆適用</a:t>
            </a:r>
          </a:p>
          <a:p>
            <a:r>
              <a:t>12</a:t>
            </a:r>
          </a:p>
          <a:p/>
          <a:p>
            <a:r>
              <a:t>1</a:t>
            </a:r>
          </a:p>
          <a:p>
            <a:r>
              <a:t>選「自己的照片」</a:t>
            </a:r>
          </a:p>
          <a:p>
            <a:r>
              <a:t>電腦選檔案；手機選相簿或拍照。</a:t>
            </a:r>
          </a:p>
          <a:p/>
          <a:p>
            <a:r>
              <a:t>2</a:t>
            </a:r>
          </a:p>
          <a:p>
            <a:r>
              <a:t>等待照片顯示與保存</a:t>
            </a:r>
          </a:p>
          <a:p>
            <a:r>
              <a:t>應用程式沒有檔案大小門檻。</a:t>
            </a:r>
          </a:p>
          <a:p>
            <a:r>
              <a:t>保存成功後，重新整理仍會保留。</a:t>
            </a:r>
          </a:p>
          <a:p/>
          <a:p>
            <a:r>
              <a:t>3</a:t>
            </a:r>
          </a:p>
          <a:p>
            <a:r>
              <a:t>換照片或恢復預設</a:t>
            </a:r>
          </a:p>
          <a:p>
            <a:r>
              <a:t>只清除背景偏好，不清除帳務。</a:t>
            </a:r>
          </a:p>
          <a:p>
            <a:r>
              <a:t>另一台裝置需重新選照片。</a:t>
            </a:r>
          </a:p>
          <a:p/>
          <a:p>
            <a:r>
              <a:t>可使用的大小與格式仍取決於瀏覽器空間及裝置記憶體；保存失敗可暫用並重試。</a:t>
            </a:r>
          </a:p>
          <a:p/>
          <a:p>
            <a:r>
              <a:t>選照片與顯示方式</a:t>
            </a:r>
          </a:p>
          <a:p/>
          <a:p>
            <a:r>
              <a:t>亮度、模糊與遮罩</a:t>
            </a:r>
          </a:p>
          <a:p/>
          <a:p/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03  自由背景</a:t>
            </a:r>
          </a:p>
          <a:p>
            <a:r>
              <a:t>照片怎麼擺？顯示方式與滑桿翻譯</a:t>
            </a:r>
          </a:p>
          <a:p>
            <a:r>
              <a:t>先選照片，再調整顯示；可用直向自拍、橫向風景或重複圖樣。</a:t>
            </a:r>
          </a:p>
          <a:p/>
          <a:p>
            <a:r>
              <a:t>介紹與操作使用手冊  ·  桌面／手機皆適用</a:t>
            </a:r>
          </a:p>
          <a:p>
            <a:r>
              <a:t>13</a:t>
            </a:r>
          </a:p>
          <a:p/>
          <a:p>
            <a:r>
              <a:t>畫面選項</a:t>
            </a:r>
          </a:p>
          <a:p/>
          <a:p>
            <a:r>
              <a:t>英文</a:t>
            </a:r>
          </a:p>
          <a:p/>
          <a:p>
            <a:r>
              <a:t>效果與建議</a:t>
            </a:r>
          </a:p>
          <a:p/>
          <a:p>
            <a:r>
              <a:t>填滿</a:t>
            </a:r>
          </a:p>
          <a:p/>
          <a:p>
            <a:r>
              <a:t>Cover</a:t>
            </a:r>
          </a:p>
          <a:p/>
          <a:p>
            <a:r>
              <a:t>鋪滿背景；邊緣可能被裁切。</a:t>
            </a:r>
          </a:p>
          <a:p/>
          <a:p>
            <a:r>
              <a:t>完整顯示</a:t>
            </a:r>
          </a:p>
          <a:p/>
          <a:p>
            <a:r>
              <a:t>Contain</a:t>
            </a:r>
          </a:p>
          <a:p/>
          <a:p>
            <a:r>
              <a:t>保持比例，讓整張照片都看得到。</a:t>
            </a:r>
          </a:p>
          <a:p/>
          <a:p>
            <a:r>
              <a:t>重複鋪排</a:t>
            </a:r>
          </a:p>
          <a:p/>
          <a:p>
            <a:r>
              <a:t>Tile</a:t>
            </a:r>
          </a:p>
          <a:p/>
          <a:p>
            <a:r>
              <a:t>重複圖樣；適合小圖、紋理。</a:t>
            </a:r>
          </a:p>
          <a:p/>
          <a:p>
            <a:r>
              <a:t>原始尺寸</a:t>
            </a:r>
          </a:p>
          <a:p/>
          <a:p>
            <a:r>
              <a:t>Actual size</a:t>
            </a:r>
          </a:p>
          <a:p/>
          <a:p>
            <a:r>
              <a:t>依瀏覽器解讀的原圖尺寸呈現。</a:t>
            </a:r>
          </a:p>
          <a:p/>
          <a:p>
            <a:r>
              <a:t>左右／上下位置</a:t>
            </a:r>
          </a:p>
          <a:p/>
          <a:p>
            <a:r>
              <a:t>Position</a:t>
            </a:r>
          </a:p>
          <a:p/>
          <a:p>
            <a:r>
              <a:t>調整人物或主體所在位置。</a:t>
            </a:r>
          </a:p>
          <a:p/>
          <a:p>
            <a:r>
              <a:t>亮度／模糊／遮罩</a:t>
            </a:r>
          </a:p>
          <a:p/>
          <a:p>
            <a:r>
              <a:t>Brightness / Blur / Overlay</a:t>
            </a:r>
          </a:p>
          <a:p/>
          <a:p>
            <a:r>
              <a:t>調整明暗、柔化及主題色覆蓋。</a:t>
            </a:r>
          </a:p>
          <a:p/>
          <a:p>
            <a:r>
              <a:t>想讓登入文字更清楚：先用填滿，再略加模糊與遮罩；手機可使用相同控制項。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04  每天記帳</a:t>
            </a:r>
          </a:p>
          <a:p>
            <a:r>
              <a:t>總覽：每天先看這四個地方</a:t>
            </a:r>
          </a:p>
          <a:p>
            <a:r>
              <a:t>入口：登入後的「總覽」。畫面金額會依帳本、範圍與期間改變。</a:t>
            </a:r>
          </a:p>
          <a:p/>
          <a:p>
            <a:r>
              <a:t>介紹與操作使用手冊  ·  桌面／手機皆適用</a:t>
            </a:r>
          </a:p>
          <a:p>
            <a:r>
              <a:t>14</a:t>
            </a:r>
          </a:p>
          <a:p/>
          <a:p>
            <a:r>
              <a:t>1</a:t>
            </a:r>
          </a:p>
          <a:p>
            <a:r>
              <a:t>本月收入與支出</a:t>
            </a:r>
          </a:p>
          <a:p>
            <a:r>
              <a:t>先看這個月進來多少、已花多少。</a:t>
            </a:r>
          </a:p>
          <a:p/>
          <a:p>
            <a:r>
              <a:t>2</a:t>
            </a:r>
          </a:p>
          <a:p>
            <a:r>
              <a:t>這個月還可以花</a:t>
            </a:r>
          </a:p>
          <a:p>
            <a:r>
              <a:t>收入 − 存款目標 − 已花支出。</a:t>
            </a:r>
          </a:p>
          <a:p/>
          <a:p>
            <a:r>
              <a:t>3</a:t>
            </a:r>
          </a:p>
          <a:p>
            <a:r>
              <a:t>常用功能與預算</a:t>
            </a:r>
          </a:p>
          <a:p>
            <a:r>
              <a:t>由「手動記帳／收支明細／統計」</a:t>
            </a:r>
          </a:p>
          <a:p>
            <a:r>
              <a:t>開始，往下看分類預算與今日紀錄。</a:t>
            </a:r>
          </a:p>
          <a:p/>
          <a:p/>
          <a:p>
            <a:r>
              <a:t>「結餘」＝收入−支出；「還可以花」還會再扣掉你設定的每月存款目標。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04  每天記帳</a:t>
            </a:r>
          </a:p>
          <a:p>
            <a:r>
              <a:t>手動記帳：直接填入實際金額</a:t>
            </a:r>
          </a:p>
          <a:p>
            <a:r>
              <a:t>入口：總覽「手動記帳」，或收支明細「手動輸入實際金額」。</a:t>
            </a:r>
          </a:p>
          <a:p/>
          <a:p>
            <a:r>
              <a:t>介紹與操作使用手冊  ·  桌面／手機皆適用</a:t>
            </a:r>
          </a:p>
          <a:p>
            <a:r>
              <a:t>15</a:t>
            </a:r>
          </a:p>
          <a:p/>
          <a:p>
            <a:r>
              <a:t>1</a:t>
            </a:r>
          </a:p>
          <a:p>
            <a:r>
              <a:t>先確認目前的帳本</a:t>
            </a:r>
          </a:p>
          <a:p>
            <a:r>
              <a:t>上方帳本切換器選「個人帳本」。</a:t>
            </a:r>
          </a:p>
          <a:p/>
          <a:p>
            <a:r>
              <a:t>2</a:t>
            </a:r>
          </a:p>
          <a:p>
            <a:r>
              <a:t>填日期、金額與收支</a:t>
            </a:r>
          </a:p>
          <a:p>
            <a:r>
              <a:t>例如 600.50、支出；金額要大於 0。</a:t>
            </a:r>
          </a:p>
          <a:p/>
          <a:p>
            <a:r>
              <a:t>3</a:t>
            </a:r>
          </a:p>
          <a:p>
            <a:r>
              <a:t>選分類，再補店家與備註</a:t>
            </a:r>
          </a:p>
          <a:p>
            <a:r>
              <a:t>以收據或銀行實際扣款為準。</a:t>
            </a:r>
          </a:p>
          <a:p>
            <a:r>
              <a:t>這個流程不需要 AI 或文字解析。</a:t>
            </a:r>
          </a:p>
          <a:p/>
          <a:p/>
          <a:p>
            <a:r>
              <a:t>手動輸入的欄位以 NT$／TWD 記錄；外幣可以先到匯率頁換算，再帶回這裡。</a:t>
            </a:r>
          </a:p>
          <a:p/>
          <a:p>
            <a:r>
              <a:t>2</a:t>
            </a:r>
          </a:p>
          <a:p/>
          <a:p>
            <a:r>
              <a:t>3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04  每天記帳</a:t>
            </a:r>
          </a:p>
          <a:p>
            <a:r>
              <a:t>文字解析記帳：一次整理多筆收支</a:t>
            </a:r>
          </a:p>
          <a:p>
            <a:r>
              <a:t>入口：收支明細 →「文字解析記帳」；也可從總覽「記一筆」進入。</a:t>
            </a:r>
          </a:p>
          <a:p/>
          <a:p>
            <a:r>
              <a:t>介紹與操作使用手冊  ·  桌面／手機皆適用</a:t>
            </a:r>
          </a:p>
          <a:p>
            <a:r>
              <a:t>17</a:t>
            </a:r>
          </a:p>
          <a:p/>
          <a:p>
            <a:r>
              <a:t>1</a:t>
            </a:r>
          </a:p>
          <a:p>
            <a:r>
              <a:t>用逗號或換行分筆</a:t>
            </a:r>
          </a:p>
          <a:p>
            <a:r>
              <a:t>例如：今天薪資30000，早餐55，</a:t>
            </a:r>
          </a:p>
          <a:p>
            <a:r>
              <a:t>捷運30，下午喝咖啡。</a:t>
            </a:r>
          </a:p>
          <a:p/>
          <a:p>
            <a:r>
              <a:t>2</a:t>
            </a:r>
          </a:p>
          <a:p>
            <a:r>
              <a:t>按「解析這段話」</a:t>
            </a:r>
          </a:p>
          <a:p>
            <a:r>
              <a:t>系統只產生候選欄位，此時尚未入帳。</a:t>
            </a:r>
          </a:p>
          <a:p/>
          <a:p>
            <a:r>
              <a:t>3</a:t>
            </a:r>
          </a:p>
          <a:p>
            <a:r>
              <a:t>看清楚目前的解析來源</a:t>
            </a:r>
          </a:p>
          <a:p>
            <a:r>
              <a:t>沒有設定模型時顯示「規則解析」。</a:t>
            </a:r>
          </a:p>
          <a:p>
            <a:r>
              <a:t>下一頁補金額、核對後再確認。</a:t>
            </a:r>
          </a:p>
          <a:p/>
          <a:p/>
          <a:p>
            <a:r>
              <a:t>AI／文字解析是輔助；想直接輸入實際金額，隨時改用獨立的手動記帳。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04  每天記帳</a:t>
            </a:r>
          </a:p>
          <a:p>
            <a:r>
              <a:t>收支明細：搜尋、修改與刪除</a:t>
            </a:r>
          </a:p>
          <a:p>
            <a:r>
              <a:t>入口：總覽「收支明細」，手機也可直接點底部「明細」。</a:t>
            </a:r>
          </a:p>
          <a:p/>
          <a:p>
            <a:r>
              <a:t>介紹與操作使用手冊  ·  桌面／手機皆適用</a:t>
            </a:r>
          </a:p>
          <a:p>
            <a:r>
              <a:t>19</a:t>
            </a:r>
          </a:p>
          <a:p/>
          <a:p>
            <a:r>
              <a:t>1</a:t>
            </a:r>
          </a:p>
          <a:p>
            <a:r>
              <a:t>先縮小查詢範圍</a:t>
            </a:r>
          </a:p>
          <a:p>
            <a:r>
              <a:t>搜尋店家或備註；選收支、來源，</a:t>
            </a:r>
          </a:p>
          <a:p>
            <a:r>
              <a:t>必要時切換目前帳本。</a:t>
            </a:r>
          </a:p>
          <a:p/>
          <a:p>
            <a:r>
              <a:t>2</a:t>
            </a:r>
          </a:p>
          <a:p>
            <a:r>
              <a:t>點自己那筆的「修改」</a:t>
            </a:r>
          </a:p>
          <a:p>
            <a:r>
              <a:t>核對內容後按「儲存修改」。</a:t>
            </a:r>
          </a:p>
          <a:p/>
          <a:p>
            <a:r>
              <a:t>3</a:t>
            </a:r>
          </a:p>
          <a:p>
            <a:r>
              <a:t>確定不要才「刪除」</a:t>
            </a:r>
          </a:p>
          <a:p>
            <a:r>
              <a:t>依視窗輸入密碼確認。</a:t>
            </a:r>
          </a:p>
          <a:p>
            <a:r>
              <a:t>「選取多筆」可一次選擇多筆。</a:t>
            </a:r>
          </a:p>
          <a:p/>
          <a:p/>
          <a:p>
            <a:r>
              <a:t>別人的紀錄及已結算帳本不提供修改／刪除；監管可以看紀錄，不能代改。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05  財務控管</a:t>
            </a:r>
          </a:p>
          <a:p>
            <a:r>
              <a:t>統計：看收支趨勢與花費分類</a:t>
            </a:r>
          </a:p>
          <a:p>
            <a:r>
              <a:t>入口：總覽「統計」，手機底部也有「統計」。</a:t>
            </a:r>
          </a:p>
          <a:p/>
          <a:p>
            <a:r>
              <a:t>介紹與操作使用手冊  ·  桌面／手機皆適用</a:t>
            </a:r>
          </a:p>
          <a:p>
            <a:r>
              <a:t>20</a:t>
            </a:r>
          </a:p>
          <a:p/>
          <a:p>
            <a:r>
              <a:t>1</a:t>
            </a:r>
          </a:p>
          <a:p>
            <a:r>
              <a:t>確認帳本與可見範圍</a:t>
            </a:r>
          </a:p>
          <a:p>
            <a:r>
              <a:t>個人或有權限的家庭資料；</a:t>
            </a:r>
          </a:p>
          <a:p>
            <a:r>
              <a:t>數字會隨帳本切換。</a:t>
            </a:r>
          </a:p>
          <a:p/>
          <a:p>
            <a:r>
              <a:t>2</a:t>
            </a:r>
          </a:p>
          <a:p>
            <a:r>
              <a:t>選「按月」或「按年」</a:t>
            </a:r>
          </a:p>
          <a:p>
            <a:r>
              <a:t>查看期間收入、支出及結餘。</a:t>
            </a:r>
          </a:p>
          <a:p/>
          <a:p>
            <a:r>
              <a:t>3</a:t>
            </a:r>
          </a:p>
          <a:p>
            <a:r>
              <a:t>對照分類圖與明細</a:t>
            </a:r>
          </a:p>
          <a:p>
            <a:r>
              <a:t>查看餐飲、交通等分類占比；</a:t>
            </a:r>
          </a:p>
          <a:p>
            <a:r>
              <a:t>加總應與同範圍明細一致。</a:t>
            </a:r>
          </a:p>
          <a:p/>
          <a:p/>
          <a:p>
            <a:r>
              <a:t>找不到剛新增的支出時，先檢查日期、帳本與篩選條件，再確認有沒有完成寫入。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05  財務控管</a:t>
            </a:r>
          </a:p>
          <a:p>
            <a:r>
              <a:t>每月預算：替常花分類設上限</a:t>
            </a:r>
          </a:p>
          <a:p>
            <a:r>
              <a:t>入口：總覽 → 個人資料 → 每月預算 →「設定」。</a:t>
            </a:r>
          </a:p>
          <a:p/>
          <a:p>
            <a:r>
              <a:t>介紹與操作使用手冊  ·  桌面／手機皆適用</a:t>
            </a:r>
          </a:p>
          <a:p>
            <a:r>
              <a:t>21</a:t>
            </a:r>
          </a:p>
          <a:p/>
          <a:p>
            <a:r>
              <a:t>1</a:t>
            </a:r>
          </a:p>
          <a:p>
            <a:r>
              <a:t>找到支出分類欄位</a:t>
            </a:r>
          </a:p>
          <a:p>
            <a:r>
              <a:t>例如餐飲填 1,000。</a:t>
            </a:r>
          </a:p>
          <a:p/>
          <a:p>
            <a:r>
              <a:t>2</a:t>
            </a:r>
          </a:p>
          <a:p>
            <a:r>
              <a:t>點其他位置，自動保存</a:t>
            </a:r>
          </a:p>
          <a:p>
            <a:r>
              <a:t>這裡沒有額外的共同儲存按鈕。</a:t>
            </a:r>
          </a:p>
          <a:p>
            <a:r>
              <a:t>填 0 表示不設定此分類預算。</a:t>
            </a:r>
          </a:p>
          <a:p/>
          <a:p>
            <a:r>
              <a:t>3</a:t>
            </a:r>
          </a:p>
          <a:p>
            <a:r>
              <a:t>回總覽看「預算使用狀況」</a:t>
            </a:r>
          </a:p>
          <a:p>
            <a:r>
              <a:t>例如花 100／預算 1,000＝10%。</a:t>
            </a:r>
          </a:p>
          <a:p>
            <a:r>
              <a:t>接近或超過上限時可調整消費。</a:t>
            </a:r>
          </a:p>
          <a:p/>
          <a:p/>
          <a:p>
            <a:r>
              <a:t>預算是支出上限；存款目標是想留下的錢。兩者用途不同，請分別設定。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06  國際匯率</a:t>
            </a:r>
          </a:p>
          <a:p>
            <a:r>
              <a:t>換算匯率：先理解貨幣名稱與方向</a:t>
            </a:r>
          </a:p>
          <a:p>
            <a:r>
              <a:t>Currency Converter＝貨幣換算器；支援多國貨幣試算，帳本仍以 TWD 記帳。</a:t>
            </a:r>
          </a:p>
          <a:p/>
          <a:p>
            <a:r>
              <a:t>介紹與操作使用手冊  ·  桌面／手機皆適用</a:t>
            </a:r>
          </a:p>
          <a:p>
            <a:r>
              <a:t>23</a:t>
            </a:r>
          </a:p>
          <a:p/>
          <a:p>
            <a:r>
              <a:t>代碼</a:t>
            </a:r>
          </a:p>
          <a:p/>
          <a:p>
            <a:r>
              <a:t>中文名稱</a:t>
            </a:r>
          </a:p>
          <a:p/>
          <a:p>
            <a:r>
              <a:t>英文名稱</a:t>
            </a:r>
          </a:p>
          <a:p/>
          <a:p>
            <a:r>
              <a:t>TWD</a:t>
            </a:r>
          </a:p>
          <a:p/>
          <a:p>
            <a:r>
              <a:t>新臺幣</a:t>
            </a:r>
          </a:p>
          <a:p/>
          <a:p>
            <a:r>
              <a:t>New Taiwan Dollar</a:t>
            </a:r>
          </a:p>
          <a:p/>
          <a:p>
            <a:r>
              <a:t>USD</a:t>
            </a:r>
          </a:p>
          <a:p/>
          <a:p>
            <a:r>
              <a:t>美元</a:t>
            </a:r>
          </a:p>
          <a:p/>
          <a:p>
            <a:r>
              <a:t>US Dollar</a:t>
            </a:r>
          </a:p>
          <a:p/>
          <a:p>
            <a:r>
              <a:t>JPY</a:t>
            </a:r>
          </a:p>
          <a:p/>
          <a:p>
            <a:r>
              <a:t>日圓</a:t>
            </a:r>
          </a:p>
          <a:p/>
          <a:p>
            <a:r>
              <a:t>Japanese Yen</a:t>
            </a:r>
          </a:p>
          <a:p/>
          <a:p>
            <a:r>
              <a:t>EUR</a:t>
            </a:r>
          </a:p>
          <a:p/>
          <a:p>
            <a:r>
              <a:t>歐元</a:t>
            </a:r>
          </a:p>
          <a:p/>
          <a:p>
            <a:r>
              <a:t>Euro</a:t>
            </a:r>
          </a:p>
          <a:p/>
          <a:p>
            <a:r>
              <a:t>GBP</a:t>
            </a:r>
          </a:p>
          <a:p/>
          <a:p>
            <a:r>
              <a:t>英鎊</a:t>
            </a:r>
          </a:p>
          <a:p/>
          <a:p>
            <a:r>
              <a:t>British Pound</a:t>
            </a:r>
          </a:p>
          <a:p/>
          <a:p>
            <a:r>
              <a:t>KRW／HKD</a:t>
            </a:r>
          </a:p>
          <a:p/>
          <a:p>
            <a:r>
              <a:t>韓元／港元</a:t>
            </a:r>
          </a:p>
          <a:p/>
          <a:p>
            <a:r>
              <a:t>South Korean Won / Hong Kong Dollar</a:t>
            </a:r>
          </a:p>
          <a:p/>
          <a:p>
            <a:r>
              <a:t>方向很重要：「USD → TWD」是在算美元值多少新臺幣；點「互換」會反轉方向。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06  國際匯率</a:t>
            </a:r>
          </a:p>
          <a:p>
            <a:r>
              <a:t>匯率試算：金額、幣別、換算結果</a:t>
            </a:r>
          </a:p>
          <a:p>
            <a:r>
              <a:t>入口：總覽或收支明細 →「國際匯率換算」。</a:t>
            </a:r>
          </a:p>
          <a:p/>
          <a:p>
            <a:r>
              <a:t>介紹與操作使用手冊  ·  桌面／手機皆適用</a:t>
            </a:r>
          </a:p>
          <a:p>
            <a:r>
              <a:t>24</a:t>
            </a:r>
          </a:p>
          <a:p/>
          <a:p>
            <a:r>
              <a:t>1</a:t>
            </a:r>
          </a:p>
          <a:p>
            <a:r>
              <a:t>輸入原始外幣金額</a:t>
            </a:r>
          </a:p>
          <a:p>
            <a:r>
              <a:t>例如 100.50 USD；選來源與目標。</a:t>
            </a:r>
          </a:p>
          <a:p/>
          <a:p>
            <a:r>
              <a:t>2</a:t>
            </a:r>
          </a:p>
          <a:p>
            <a:r>
              <a:t>用名稱或代碼找貨幣</a:t>
            </a:r>
          </a:p>
          <a:p>
            <a:r>
              <a:t>可搜尋 USD、美元或 US Dollar。</a:t>
            </a:r>
          </a:p>
          <a:p>
            <a:r>
              <a:t>需要反轉時按「互換」。</a:t>
            </a:r>
          </a:p>
          <a:p/>
          <a:p>
            <a:r>
              <a:t>3</a:t>
            </a:r>
          </a:p>
          <a:p>
            <a:r>
              <a:t>按「換算金額」</a:t>
            </a:r>
          </a:p>
          <a:p>
            <a:r>
              <a:t>核對結果、來源與資料日期。</a:t>
            </a:r>
          </a:p>
          <a:p>
            <a:r>
              <a:t>需要新資料時使用刷新功能。</a:t>
            </a:r>
          </a:p>
          <a:p/>
          <a:p>
            <a:r>
              <a:t>支援 150 餘種貨幣，數量依來源變動；0 可試算，但不能新增一筆 0 元帳。</a:t>
            </a:r>
          </a:p>
          <a:p/>
          <a:p/>
          <a:p>
            <a:r>
              <a:t>1</a:t>
            </a:r>
          </a:p>
          <a:p/>
          <a:p>
            <a:r>
              <a:t>2</a:t>
            </a:r>
          </a:p>
          <a:p/>
          <a:p>
            <a:r>
              <a:t>3</a:t>
            </a:r>
          </a:p>
          <a:p>
            <a:r>
              <a:t>換算完成後顯示金額與資料來源；判讀方式見第 26 頁。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07  家庭與帳本</a:t>
            </a:r>
          </a:p>
          <a:p>
            <a:r>
              <a:t>家長照看：看得到，不代表能代改</a:t>
            </a:r>
          </a:p>
          <a:p>
            <a:r>
              <a:t>在子女卡片按「開始照看」，再按「看紀錄」；監管關係需要明確建立。</a:t>
            </a:r>
          </a:p>
          <a:p/>
          <a:p>
            <a:r>
              <a:t>介紹與操作使用手冊  ·  桌面／手機皆適用</a:t>
            </a:r>
          </a:p>
          <a:p>
            <a:r>
              <a:t>28</a:t>
            </a:r>
          </a:p>
          <a:p/>
          <a:p>
            <a:r>
              <a:t>操作情境</a:t>
            </a:r>
          </a:p>
          <a:p/>
          <a:p>
            <a:r>
              <a:t>是否允許</a:t>
            </a:r>
          </a:p>
          <a:p/>
          <a:p>
            <a:r>
              <a:t>原因</a:t>
            </a:r>
          </a:p>
          <a:p/>
          <a:p>
            <a:r>
              <a:t>本人改自己的未結算紀錄</a:t>
            </a:r>
          </a:p>
          <a:p/>
          <a:p>
            <a:r>
              <a:t>可以</a:t>
            </a:r>
          </a:p>
          <a:p/>
          <a:p>
            <a:r>
              <a:t>本人對自己的帳務負責。</a:t>
            </a:r>
          </a:p>
          <a:p/>
          <a:p>
            <a:r>
              <a:t>家長查看已照看子女紀錄</a:t>
            </a:r>
          </a:p>
          <a:p/>
          <a:p>
            <a:r>
              <a:t>可以</a:t>
            </a:r>
          </a:p>
          <a:p/>
          <a:p>
            <a:r>
              <a:t>明確建立的監管關係。</a:t>
            </a:r>
          </a:p>
          <a:p/>
          <a:p>
            <a:r>
              <a:t>家長替子女修改／刪除</a:t>
            </a:r>
          </a:p>
          <a:p/>
          <a:p>
            <a:r>
              <a:t>不可以</a:t>
            </a:r>
          </a:p>
          <a:p/>
          <a:p>
            <a:r>
              <a:t>監管唯讀，不是登入對方帳號。</a:t>
            </a:r>
          </a:p>
          <a:p/>
          <a:p>
            <a:r>
              <a:t>子女查看家長私人帳務</a:t>
            </a:r>
          </a:p>
          <a:p/>
          <a:p>
            <a:r>
              <a:t>不可以</a:t>
            </a:r>
          </a:p>
          <a:p/>
          <a:p>
            <a:r>
              <a:t>家庭角色不等於全部資料公開。</a:t>
            </a:r>
          </a:p>
          <a:p/>
          <a:p>
            <a:r>
              <a:t>共享帳本的成員讀紀錄</a:t>
            </a:r>
          </a:p>
          <a:p/>
          <a:p>
            <a:r>
              <a:t>依帳本權限</a:t>
            </a:r>
          </a:p>
          <a:p/>
          <a:p>
            <a:r>
              <a:t>限共享範圍；不擴及全部私人帳務。</a:t>
            </a:r>
          </a:p>
          <a:p/>
          <a:p>
            <a:r>
              <a:t>「全家」僅彙整你有權查看的資料；記帳仍寫入自己的帳號。存款目標與預算只能本人設定。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08  手機與個人設定</a:t>
            </a:r>
          </a:p>
          <a:p>
            <a:r>
              <a:t>個人資料與登入安全怎麼調整？</a:t>
            </a:r>
          </a:p>
          <a:p>
            <a:r>
              <a:t>入口：總覽 →「個人資料」；右上角鈴鐺可查看通知。</a:t>
            </a:r>
          </a:p>
          <a:p/>
          <a:p>
            <a:r>
              <a:t>介紹與操作使用手冊  ·  桌面／手機皆適用</a:t>
            </a:r>
          </a:p>
          <a:p>
            <a:r>
              <a:t>31</a:t>
            </a:r>
          </a:p>
          <a:p/>
          <a:p>
            <a:r>
              <a:t>我要做的事</a:t>
            </a:r>
          </a:p>
          <a:p/>
          <a:p>
            <a:r>
              <a:t>介面操作</a:t>
            </a:r>
          </a:p>
          <a:p/>
          <a:p>
            <a:r>
              <a:t>改名字／出生年份</a:t>
            </a:r>
          </a:p>
          <a:p/>
          <a:p>
            <a:r>
              <a:t>修改欄位後，按「儲存」。</a:t>
            </a:r>
          </a:p>
          <a:p/>
          <a:p>
            <a:r>
              <a:t>換頭像</a:t>
            </a:r>
          </a:p>
          <a:p/>
          <a:p>
            <a:r>
              <a:t>按「換照片」；這與登入背景照片不同。</a:t>
            </a:r>
          </a:p>
          <a:p/>
          <a:p>
            <a:r>
              <a:t>更改密碼</a:t>
            </a:r>
          </a:p>
          <a:p/>
          <a:p>
            <a:r>
              <a:t>填目前密碼與至少 8 字的新密碼 →「更改密碼」。</a:t>
            </a:r>
          </a:p>
          <a:p/>
          <a:p>
            <a:r>
              <a:t>忘記密碼</a:t>
            </a:r>
          </a:p>
          <a:p/>
          <a:p>
            <a:r>
              <a:t>登入頁按「忘記密碼？」；依郵件／開發提示重設。</a:t>
            </a:r>
          </a:p>
          <a:p/>
          <a:p>
            <a:r>
              <a:t>看登入裝置／退出</a:t>
            </a:r>
          </a:p>
          <a:p/>
          <a:p>
            <a:r>
              <a:t>在「登入中的裝置」核對；可「登出所有裝置」。</a:t>
            </a:r>
          </a:p>
          <a:p/>
          <a:p>
            <a:r>
              <a:t>換登入後的畫面主題</a:t>
            </a:r>
          </a:p>
          <a:p/>
          <a:p>
            <a:r>
              <a:t>點主題卡片立即套用；Email 不能在此直接修改。</a:t>
            </a:r>
          </a:p>
          <a:p/>
          <a:p>
            <a:r>
              <a:t>在共用電腦用完請登出；「登出所有裝置」也會讓目前這台重新登入。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08  手機與個人設定</a:t>
            </a:r>
          </a:p>
          <a:p>
            <a:r>
              <a:t>不懂名詞或想再練習：到教學中心</a:t>
            </a:r>
          </a:p>
          <a:p>
            <a:r>
              <a:t>總覽的「操作教學」「專題介紹」「中英名詞」，提供可直接閱讀的說明。</a:t>
            </a:r>
          </a:p>
          <a:p/>
          <a:p>
            <a:r>
              <a:t>介紹與操作使用手冊  ·  桌面／手機皆適用</a:t>
            </a:r>
          </a:p>
          <a:p>
            <a:r>
              <a:t>32</a:t>
            </a:r>
          </a:p>
          <a:p/>
          <a:p>
            <a:r>
              <a:t>畫面用語</a:t>
            </a:r>
          </a:p>
          <a:p/>
          <a:p>
            <a:r>
              <a:t>中文意思／用途</a:t>
            </a:r>
          </a:p>
          <a:p/>
          <a:p>
            <a:r>
              <a:t>Ledger / Transaction</a:t>
            </a:r>
          </a:p>
          <a:p/>
          <a:p>
            <a:r>
              <a:t>帳本／一筆收支紀錄。</a:t>
            </a:r>
          </a:p>
          <a:p/>
          <a:p>
            <a:r>
              <a:t>Income / Expense / Balance</a:t>
            </a:r>
          </a:p>
          <a:p/>
          <a:p>
            <a:r>
              <a:t>收入／支出／結餘。</a:t>
            </a:r>
          </a:p>
          <a:p/>
          <a:p>
            <a:r>
              <a:t>Budget / Savings Goal</a:t>
            </a:r>
          </a:p>
          <a:p/>
          <a:p>
            <a:r>
              <a:t>分類預算上限／每月存款目標。</a:t>
            </a:r>
          </a:p>
          <a:p/>
          <a:p>
            <a:r>
              <a:t>Verification / Session</a:t>
            </a:r>
          </a:p>
          <a:p/>
          <a:p>
            <a:r>
              <a:t>驗證信箱所有權／登入工作階段。</a:t>
            </a:r>
          </a:p>
          <a:p/>
          <a:p>
            <a:r>
              <a:t>Exchange Rate / Base Currency</a:t>
            </a:r>
          </a:p>
          <a:p/>
          <a:p>
            <a:r>
              <a:t>兩種貨幣的換算比例／統計使用的本位幣。</a:t>
            </a:r>
          </a:p>
          <a:p/>
          <a:p>
            <a:r>
              <a:t>Frontend / Backend / Database</a:t>
            </a:r>
          </a:p>
          <a:p/>
          <a:p>
            <a:r>
              <a:t>瀏覽器介面／處理規則與權限的服務／保存資料。</a:t>
            </a:r>
          </a:p>
          <a:p/>
          <a:p>
            <a:r>
              <a:t>使用者手冊路徑是 /docs/index.html；/docs 是工程用 API 文件，兩者用途不同。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09  練習與排錯</a:t>
            </a:r>
          </a:p>
          <a:p>
            <a:r>
              <a:t>卡住時，先對照這張問題排除表</a:t>
            </a:r>
          </a:p>
          <a:p>
            <a:r>
              <a:t>先讀畫面的具體錯誤，再從相同的啟動模式與帳號檢查。</a:t>
            </a:r>
          </a:p>
          <a:p/>
          <a:p>
            <a:r>
              <a:t>介紹與操作使用手冊  ·  桌面／手機皆適用</a:t>
            </a:r>
          </a:p>
          <a:p>
            <a:r>
              <a:t>34</a:t>
            </a:r>
          </a:p>
          <a:p/>
          <a:p>
            <a:r>
              <a:t>遇到的情況</a:t>
            </a:r>
          </a:p>
          <a:p/>
          <a:p>
            <a:r>
              <a:t>先檢查什麼</a:t>
            </a:r>
          </a:p>
          <a:p/>
          <a:p>
            <a:r>
              <a:t>開不了畫面／連不到後端</a:t>
            </a:r>
          </a:p>
          <a:p/>
          <a:p>
            <a:r>
              <a:t>終端機是否仍在運作；使用它印出的完整網址。</a:t>
            </a:r>
          </a:p>
          <a:p/>
          <a:p>
            <a:r>
              <a:t>埠號被占用</a:t>
            </a:r>
          </a:p>
          <a:p/>
          <a:p>
            <a:r>
              <a:t>先停掉自己的舊服務；或指定 --port／--api-port。</a:t>
            </a:r>
          </a:p>
          <a:p/>
          <a:p>
            <a:r>
              <a:t>沒有收到驗證信</a:t>
            </a:r>
          </a:p>
          <a:p/>
          <a:p>
            <a:r>
              <a:t>本機是否明示未寄信；正式環境查垃圾郵件與寄信設定。</a:t>
            </a:r>
          </a:p>
          <a:p/>
          <a:p>
            <a:r>
              <a:t>按寫入卻沒新增</a:t>
            </a:r>
          </a:p>
          <a:p/>
          <a:p>
            <a:r>
              <a:t>第一次只進確認狀態；核對後再按一次，等成功提示。</a:t>
            </a:r>
          </a:p>
          <a:p/>
          <a:p>
            <a:r>
              <a:t>看不到紀錄或統計不同</a:t>
            </a:r>
          </a:p>
          <a:p/>
          <a:p>
            <a:r>
              <a:t>查日期、帳本、收支／來源篩選，及是否真的確認寫入。</a:t>
            </a:r>
          </a:p>
          <a:p/>
          <a:p>
            <a:r>
              <a:t>無法解析／換匯／保存照片</a:t>
            </a:r>
          </a:p>
          <a:p/>
          <a:p>
            <a:r>
              <a:t>看規則備援與錯誤提示；查網路、來源時間或瀏覽器空間。</a:t>
            </a:r>
          </a:p>
          <a:p/>
          <a:p>
            <a:r>
              <a:t>修改埠號時，要複製啟動器印出的完整 ?api= 網址；不要用清空資料庫來處理連線問題。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FamBudget  /  家庭記帳</a:t>
            </a:r>
          </a:p>
          <a:p>
            <a:r>
              <a:t>10  發表與上線</a:t>
            </a:r>
          </a:p>
          <a:p>
            <a:r>
              <a:t>發表當天：用 8 分鐘走完重點</a:t>
            </a:r>
          </a:p>
          <a:p>
            <a:r>
              <a:t>先完成第 33 頁練習、準備兩個展示帳號；正式收信請提前驗收。</a:t>
            </a:r>
          </a:p>
          <a:p/>
          <a:p>
            <a:r>
              <a:t>介紹與操作使用手冊  ·  桌面／手機皆適用</a:t>
            </a:r>
          </a:p>
          <a:p>
            <a:r>
              <a:t>36</a:t>
            </a:r>
          </a:p>
          <a:p/>
          <a:p>
            <a:r>
              <a:t>時間</a:t>
            </a:r>
          </a:p>
          <a:p/>
          <a:p>
            <a:r>
              <a:t>展示內容</a:t>
            </a:r>
          </a:p>
          <a:p/>
          <a:p>
            <a:r>
              <a:t>一句話介紹</a:t>
            </a:r>
          </a:p>
          <a:p/>
          <a:p>
            <a:r>
              <a:t>0:00–1:00</a:t>
            </a:r>
          </a:p>
          <a:p/>
          <a:p>
            <a:r>
              <a:t>登入背景＋信箱驗證</a:t>
            </a:r>
          </a:p>
          <a:p/>
          <a:p>
            <a:r>
              <a:t>登入可自訂背景，信箱驗證確認帳號所有權。</a:t>
            </a:r>
          </a:p>
          <a:p/>
          <a:p>
            <a:r>
              <a:t>1:00–2:30</a:t>
            </a:r>
          </a:p>
          <a:p/>
          <a:p>
            <a:r>
              <a:t>手動記一筆＋文字解析核對</a:t>
            </a:r>
          </a:p>
          <a:p/>
          <a:p>
            <a:r>
              <a:t>實際金額可直接填；文字解析後由人確認。</a:t>
            </a:r>
          </a:p>
          <a:p/>
          <a:p>
            <a:r>
              <a:t>2:30–4:00</a:t>
            </a:r>
          </a:p>
          <a:p/>
          <a:p>
            <a:r>
              <a:t>明細＋統計＋預算與目標</a:t>
            </a:r>
          </a:p>
          <a:p/>
          <a:p>
            <a:r>
              <a:t>從每筆消費追到分類，再看可花金額。</a:t>
            </a:r>
          </a:p>
          <a:p/>
          <a:p>
            <a:r>
              <a:t>4:00–5:30</a:t>
            </a:r>
          </a:p>
          <a:p/>
          <a:p>
            <a:r>
              <a:t>換匯＋帶入手動記帳</a:t>
            </a:r>
          </a:p>
          <a:p/>
          <a:p>
            <a:r>
              <a:t>每日參考匯率預填，再改成實際扣款。</a:t>
            </a:r>
          </a:p>
          <a:p/>
          <a:p>
            <a:r>
              <a:t>5:30–7:00</a:t>
            </a:r>
          </a:p>
          <a:p/>
          <a:p>
            <a:r>
              <a:t>家庭A/B＋監管與共享</a:t>
            </a:r>
          </a:p>
          <a:p/>
          <a:p>
            <a:r>
              <a:t>能看哪些資料由權限決定，照看是唯讀。</a:t>
            </a:r>
          </a:p>
          <a:p/>
          <a:p>
            <a:r>
              <a:t>7:00–8:00</a:t>
            </a:r>
          </a:p>
          <a:p/>
          <a:p>
            <a:r>
              <a:t>手機畫面＋成果與限制</a:t>
            </a:r>
          </a:p>
          <a:p/>
          <a:p>
            <a:r>
              <a:t>手機可操作；本位幣TWD，來源與狀態如實呈現。</a:t>
            </a:r>
          </a:p>
          <a:p/>
          <a:p>
            <a:r>
              <a:t>發表前確認：可登入、可入帳、可驗算、手機可連線；備妥這份 PDF 與測試截圖。</a:t>
            </a:r>
          </a:p>
          <a:p>
            <a:r>
              <a:t>回目錄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14.xml"/><Relationship Id="rId4" Type="http://schemas.openxmlformats.org/officeDocument/2006/relationships/slide" Target="slide23.xml"/><Relationship Id="rId5" Type="http://schemas.openxmlformats.org/officeDocument/2006/relationships/notesSlide" Target="../notesSlides/notes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notesSlide" Target="../notesSlides/notesSlide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2.xml"/><Relationship Id="rId6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.xml"/><Relationship Id="rId6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notesSlide" Target="../notesSlides/notesSlide2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slide" Target="slide2.xml"/><Relationship Id="rId4" Type="http://schemas.openxmlformats.org/officeDocument/2006/relationships/notesSlide" Target="../notesSlides/notesSlide2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slide" Target="slide2.xml"/><Relationship Id="rId4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slide" Target="slide2.xml"/><Relationship Id="rId4" Type="http://schemas.openxmlformats.org/officeDocument/2006/relationships/notesSlide" Target="../notesSlides/notesSlide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slide" Target="slide2.xml"/><Relationship Id="rId4" Type="http://schemas.openxmlformats.org/officeDocument/2006/relationships/notesSlide" Target="../notesSlides/notesSlide2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slide" Target="slide2.xml"/><Relationship Id="rId4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slide" Target="slide2.xml"/><Relationship Id="rId4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slide" Target="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slide" Target="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" Target="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使用操作指南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家庭記帳 FamBudget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從第一次啟動，到每天記帳、海外換算與家庭協作。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29968"/>
            <a:ext cx="2834640" cy="283464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6197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26"/>
              </a:spcAft>
              <a:defRPr sz="105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介紹 × 操作 × 中英名詞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79192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96"/>
              </a:spcAft>
              <a:defRPr sz="3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把日常收支</a:t>
            </a:r>
          </a:p>
          <a:p>
            <a:pPr>
              <a:lnSpc>
                <a:spcPct val="118000"/>
              </a:lnSpc>
              <a:spcAft>
                <a:spcPts val="396"/>
              </a:spcAft>
              <a:defRPr sz="3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整理成看得懂的生活帳本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附實際畫面、逐步練習與問題排除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可編輯 PowerPoint ＋ 手機閱讀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50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8"/>
              </a:spcAft>
              <a:defRPr sz="11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截圖採展示資料；練習金額另列於第 33 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5600" y="1924812"/>
            <a:ext cx="5665279" cy="4261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-dashboard.png"/>
          <p:cNvPicPr>
            <a:picLocks noChangeAspect="1"/>
          </p:cNvPicPr>
          <p:nvPr/>
        </p:nvPicPr>
        <p:blipFill>
          <a:blip r:embed="rId3"/>
          <a:srcRect l="10981" t="8889" r="10688" b="2222"/>
          <a:stretch>
            <a:fillRect/>
          </a:stretch>
        </p:blipFill>
        <p:spPr>
          <a:xfrm>
            <a:off x="5995892" y="1975104"/>
            <a:ext cx="5564695" cy="4160520"/>
          </a:xfrm>
          <a:prstGeom prst="rect">
            <a:avLst/>
          </a:prstGeom>
        </p:spPr>
      </p:pic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閱讀導覽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這份簡報怎麼看？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第一次使用：依① → ② → ③操作；其他功能可依頁碼直接查閱。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①  第 4–10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先啟動與登入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31363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環境準備、啟動指令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註冊、信箱驗證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初次設定與個人帳本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1168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②  第 14–22 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每天的記帳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1363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總覽與手動實際金額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文字解析、修改明細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統計、預算、存錢計畫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01168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③  第 23–36 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進階與手機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383280"/>
            <a:ext cx="31363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匯率換算與帶入記帳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家庭、帳本、手機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練習、排錯與發表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想先換登入背景？看第 11–13 頁。想完整走一輪？照第 33 頁的練習做。</a:t>
            </a:r>
          </a:p>
        </p:txBody>
      </p:sp>
      <p:sp>
        <p:nvSpPr>
          <p:cNvPr id="24" name="TextBox 23">
            <a:hlinkClick action="ppaction://hlinksldjump" r:id="rId2"/>
          </p:cNvPr>
          <p:cNvSpPr txBox="1"/>
          <p:nvPr/>
        </p:nvSpPr>
        <p:spPr>
          <a:xfrm>
            <a:off x="758952" y="48646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點此前往 →</a:t>
            </a:r>
          </a:p>
        </p:txBody>
      </p:sp>
      <p:sp>
        <p:nvSpPr>
          <p:cNvPr id="25" name="TextBox 24">
            <a:hlinkClick action="ppaction://hlinksldjump" r:id="rId3"/>
          </p:cNvPr>
          <p:cNvSpPr txBox="1"/>
          <p:nvPr/>
        </p:nvSpPr>
        <p:spPr>
          <a:xfrm>
            <a:off x="4526280" y="48646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點此前往 →</a:t>
            </a:r>
          </a:p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8293608" y="48646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點此前往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專題介紹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這個專題可以幫你做什麼？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適合個人、家庭與有海外支出需求的人；目前帳本以新臺幣 TWD 統計。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RECORD  /  記錄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記下真實收支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31363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直接手動填金額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一段文字拆成多筆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確認後才正式入帳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1168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UNDERSTAND  /  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看懂錢花在哪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1363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收入、支出與結餘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分類比例與期間統計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預算、存款目標與建議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01168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SHARE  /  協作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一起管理生活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383280"/>
            <a:ext cx="313639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家庭邀請與監管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個人及共享帳本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外幣試算後轉 TWD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資料流程：瀏覽器介面 → FastAPI 後端 → 資料庫；重新整理後仍可讀到已確認的紀錄。</a:t>
            </a:r>
          </a:p>
        </p:txBody>
      </p:sp>
      <p:sp>
        <p:nvSpPr>
          <p:cNvPr id="24" name="TextBox 23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01  啟動專題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第一次使用，要先準備什麼？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先把完整專題 ZIP 解壓縮到自己的資料夾，再開啟該資料夾的終端機。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78892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25511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準備項目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011680"/>
            <a:ext cx="830275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112264"/>
            <a:ext cx="806500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要做的事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27889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578608"/>
            <a:ext cx="25511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Python 3.12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487168"/>
            <a:ext cx="830275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578608"/>
            <a:ext cx="80650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安裝完成後，以 python --version 確認版本。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0672"/>
            <a:ext cx="2788920" cy="60350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82112"/>
            <a:ext cx="25511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專案根目錄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090672"/>
            <a:ext cx="8302752" cy="60350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182112"/>
            <a:ext cx="80650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看得到 run.py、backend/、frontend/。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27889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85615"/>
            <a:ext cx="25511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現代瀏覽器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694176"/>
            <a:ext cx="830275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3785615"/>
            <a:ext cx="80650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Chrome、Edge、Firefox 或 Safari。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2788920" cy="60350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389120"/>
            <a:ext cx="25511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第一次需要網路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4297680"/>
            <a:ext cx="8302752" cy="60350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4389120"/>
            <a:ext cx="80650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啟動器會安裝套件；匯率也需要連線。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01184"/>
            <a:ext cx="27889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992624"/>
            <a:ext cx="25511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先用 SQLite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901184"/>
            <a:ext cx="830275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4992624"/>
            <a:ext cx="80650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免 Docker；照下一頁建立虛擬環境。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有 Docker Desktop 才需要 PostgreSQL 開發模式；只想先操作，選 --sqlite 即可。</a:t>
            </a:r>
          </a:p>
        </p:txBody>
      </p:sp>
      <p:sp>
        <p:nvSpPr>
          <p:cNvPr id="36" name="TextBox 3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01  啟動專題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Windows：照這三步啟動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在專案根目錄的 PowerShell 或終端機執行；首次安裝完成前請保留視窗。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05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建立專案專用環境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4747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第一次只要建立一次。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12724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3182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08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啟動前端、後端與資料庫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02152"/>
            <a:ext cx="34747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系統會自動完成套件與資料表準備。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224527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2910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06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開啟終端機印出的網址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99431"/>
            <a:ext cx="34747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等到就緒訊息，再複製完整前端網址。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29968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① 建立虛擬環境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450592"/>
            <a:ext cx="6766560" cy="804672"/>
          </a:xfrm>
          <a:prstGeom prst="roundRect">
            <a:avLst>
              <a:gd name="adj" fmla="val 12000"/>
            </a:avLst>
          </a:prstGeom>
          <a:solidFill>
            <a:srgbClr val="1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651760"/>
            <a:ext cx="63642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27"/>
              </a:spcAft>
              <a:defRPr sz="1900" b="0">
                <a:solidFill>
                  <a:srgbClr val="FFFFFF"/>
                </a:solidFill>
                <a:latin typeface="DejaVu Sans Mono"/>
              </a:defRPr>
            </a:pPr>
            <a:r>
              <a:rPr lang="zh-TW"/>
              <a:t>python -m venv .venv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57016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② 啟動專題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986784"/>
            <a:ext cx="6766560" cy="960120"/>
          </a:xfrm>
          <a:prstGeom prst="roundRect">
            <a:avLst>
              <a:gd name="adj" fmla="val 12000"/>
            </a:avLst>
          </a:prstGeom>
          <a:solidFill>
            <a:srgbClr val="1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4187952"/>
            <a:ext cx="6364224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195"/>
              </a:spcAft>
              <a:defRPr sz="1630" b="0">
                <a:solidFill>
                  <a:srgbClr val="FFFFFF"/>
                </a:solidFill>
                <a:latin typeface="DejaVu Sans Mono"/>
              </a:defRPr>
            </a:pPr>
            <a:r>
              <a:rPr lang="zh-TW"/>
              <a:t>.\.venv\Scripts\python.exe run.py --sqlite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日後再次使用：在同一資料夾執行第②行。不要直接雙擊 HTML 檔案。</a:t>
            </a:r>
          </a:p>
        </p:txBody>
      </p:sp>
      <p:sp>
        <p:nvSpPr>
          <p:cNvPr id="30" name="TextBox 29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01  啟動專題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macOS／Linux：啟動與安全停止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SQLite 展示模式會把紀錄保存在 backend/demo.db，停止後不會自動清空。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① 第一次建立環境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32888"/>
            <a:ext cx="5623560" cy="868680"/>
          </a:xfrm>
          <a:prstGeom prst="roundRect">
            <a:avLst>
              <a:gd name="adj" fmla="val 12000"/>
            </a:avLst>
          </a:prstGeom>
          <a:solidFill>
            <a:srgbClr val="1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34056"/>
            <a:ext cx="5221224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27"/>
              </a:spcAft>
              <a:defRPr sz="1900" b="0">
                <a:solidFill>
                  <a:srgbClr val="FFFFFF"/>
                </a:solidFill>
                <a:latin typeface="DejaVu Sans Mono"/>
              </a:defRPr>
            </a:pPr>
            <a:r>
              <a:rPr lang="zh-TW"/>
              <a:t>python3 -m venv .venv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04"/>
              </a:spcAft>
              <a:defRPr sz="17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② 每次使用時啟動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24528"/>
            <a:ext cx="5623560" cy="941832"/>
          </a:xfrm>
          <a:prstGeom prst="roundRect">
            <a:avLst>
              <a:gd name="adj" fmla="val 12000"/>
            </a:avLst>
          </a:prstGeom>
          <a:solidFill>
            <a:srgbClr val="1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425696"/>
            <a:ext cx="5221224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04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rPr lang="zh-TW"/>
              <a:t>./.venv/bin/python run.py --sqlite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11680"/>
            <a:ext cx="493776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221992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63"/>
              </a:spcAft>
              <a:defRPr sz="22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停止、再啟動、資料在哪？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953512"/>
            <a:ext cx="4434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用完回到終端機按 Ctrl + C。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下次執行同一啟動指令。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SQLite 紀錄仍在原專案資料夾。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要換電腦，先保留資料庫備份。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AD4F3B"/>
                </a:solidFill>
                <a:latin typeface="Noto Sans CJK TC"/>
              </a:defRPr>
            </a:pPr>
            <a:r>
              <a:rPr lang="zh-TW"/>
              <a:t>不要把 --reset 當作重啟指令：它會刪除本機開發資料庫。</a:t>
            </a:r>
          </a:p>
        </p:txBody>
      </p:sp>
      <p:sp>
        <p:nvSpPr>
          <p:cNvPr id="21" name="TextBox 20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01  啟動專題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開啟哪個網址？如何確認正在用真後端？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使用啟動器印出的完整前端網址；以下是預設埠號的本機範例。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10927080" cy="822960"/>
          </a:xfrm>
          <a:prstGeom prst="roundRect">
            <a:avLst>
              <a:gd name="adj" fmla="val 12000"/>
            </a:avLst>
          </a:prstGeom>
          <a:solidFill>
            <a:srgbClr val="1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12848"/>
            <a:ext cx="10524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16"/>
              </a:spcAft>
              <a:defRPr sz="1800" b="0">
                <a:solidFill>
                  <a:srgbClr val="FFFFFF"/>
                </a:solidFill>
                <a:latin typeface="DejaVu Sans Mono"/>
              </a:defRPr>
            </a:pPr>
            <a:r>
              <a:rPr lang="zh-TW"/>
              <a:t>http://localhost:5174/?api=http://localhost:8000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36392"/>
            <a:ext cx="306324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236976"/>
            <a:ext cx="282549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入口／模式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136392"/>
            <a:ext cx="8028431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3236976"/>
            <a:ext cx="77906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用途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30632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703320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前端 5174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3611880"/>
            <a:ext cx="8028431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703320"/>
            <a:ext cx="7790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實際操作畫面：登入、記帳、統計與家庭。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23944"/>
            <a:ext cx="306324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215383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後端 8000/docs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4123944"/>
            <a:ext cx="8028431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4215383"/>
            <a:ext cx="7790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API 互動文件，主要供開發與測試使用。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36008"/>
            <a:ext cx="30632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727448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頁尾「已連接後端」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4636008"/>
            <a:ext cx="8028431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4727448"/>
            <a:ext cx="7790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這次的記帳會經由後端寫入資料庫。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48072"/>
            <a:ext cx="306324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5239512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--front-only 模擬模式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5148072"/>
            <a:ext cx="8028431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5239512"/>
            <a:ext cx="7790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資料只存在目前瀏覽器，不能當後端驗收。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localhost 指目前這台電腦；這不是已公開的網站。手機連線方式見第 30 頁。</a:t>
            </a:r>
          </a:p>
        </p:txBody>
      </p:sp>
      <p:sp>
        <p:nvSpPr>
          <p:cNvPr id="34" name="TextBox 33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02  帳號與驗證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建立自己的帳號，或先用本機展示帳號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入口：登入頁 →「開始使用」／「建立一個」。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08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第一次：選「建立一個」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填名字、Email 與至少 8 字密碼。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正式環境：先驗證再登入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下一頁說明收信與本機展示差異。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本機先看畫面也可以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ledger@fambudget.tw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密碼：abcd1234（僅開發示範）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3369" y="1924812"/>
            <a:ext cx="3555885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4-regist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3661" y="1975104"/>
            <a:ext cx="3455301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若畫面停留在專題介紹，先按「開始使用」進登入表單。</a:t>
            </a:r>
          </a:p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02  帳號與驗證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信箱驗證：本機示範與正式收信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入口：登入頁「信箱驗證／重新申請驗證連結」，或登入後的未驗證提醒。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09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填註冊用的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457200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按申請驗證連結，等待畫面回應。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72384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7695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540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開啟連結，再確認驗證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47288"/>
            <a:ext cx="457200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正式環境到收件匣或垃圾郵件匣；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本機按明示未寄信的開發連結。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114800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1937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96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成功後登入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89704"/>
            <a:ext cx="457200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到「個人資料」核對信箱已驗證。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1868" y="2085264"/>
            <a:ext cx="5724144" cy="342813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5-email-demo-car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52160" y="2135556"/>
            <a:ext cx="5623560" cy="33275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0"/>
              </a:spcAft>
              <a:defRPr sz="125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連結 30 分鐘內、單次有效；重寄後請開最新連結。正式寄信需先完成第 35 頁的服務設定。</a:t>
            </a:r>
          </a:p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02  帳號與驗證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初次設定：先建立自己的記帳起點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註冊／首次登入後，依序完成「存錢目標 → 理財習慣 → 主題」。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先填每月想存多少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 5,000；之後可到個人資料改。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選理財習慣與畫面主題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依自己的情況選；也可以跳過。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完成，開始記帳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沒有帳本時會建立「個人帳本」。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全部先跳過也能開始使用。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1348" y="1924812"/>
            <a:ext cx="3239926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etup-go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41640" y="1975104"/>
            <a:ext cx="3139342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登入後的主題與登入頁背景分開設定；換主題不會替換你的登入背景照片。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03  自由背景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登入背景：三種預設，隨時切換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在登入或註冊頁展開「登入背景」，直接點選樣式；選擇會保存在此裝置。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3657600" cy="3456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ckground-daw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3232" y="2210960"/>
            <a:ext cx="3419856" cy="22531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" y="4663440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63"/>
              </a:spcAft>
              <a:defRPr sz="22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紙上晨光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129784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44"/>
              </a:spcAft>
              <a:defRPr sz="12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Paper Sunrise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2057400"/>
            <a:ext cx="3657600" cy="3456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ckground-fores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2210960"/>
            <a:ext cx="3419856" cy="22531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63440" y="4663440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63"/>
              </a:spcAft>
              <a:defRPr sz="22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森林微風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129784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44"/>
              </a:spcAft>
              <a:defRPr sz="12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Forest Breeze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1896" y="2057400"/>
            <a:ext cx="3657600" cy="3456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ackground-nigh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30768" y="2210960"/>
            <a:ext cx="3419856" cy="22531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22208" y="4663440"/>
            <a:ext cx="32369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63"/>
              </a:spcAft>
              <a:defRPr sz="22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星空暮色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5129784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44"/>
              </a:spcAft>
              <a:defRPr sz="12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Starry Dusk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第四種「自己的照片 Your Photo」可選相簿、檔案或手機拍照，下一頁示範。</a:t>
            </a:r>
          </a:p>
        </p:txBody>
      </p:sp>
      <p:sp>
        <p:nvSpPr>
          <p:cNvPr id="24" name="TextBox 23">
            <a:hlinkClick action="ppaction://hlinksldjump" r:id="rId5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03  自由背景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第四種：用自己的照片作登入背景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入口：登入背景 →「自己的照片」。照片只存在目前裝置，不會傳到記帳後端。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選「自己的照片」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電腦選檔案；手機選相簿或拍照。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等待照片顯示與保存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應用程式沒有檔案大小門檻。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保存成功後，重新整理仍會保留。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換照片或恢復預設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只清除背景偏好，不清除帳務。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另一台裝置需重新選照片。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可使用的大小與格式仍取決於瀏覽器空間及裝置記憶體；保存失敗可暫用並重試。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2011680"/>
            <a:ext cx="2423160" cy="283464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043684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26"/>
              </a:spcAft>
              <a:defRPr sz="105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選照片與顯示方式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1" y="2011680"/>
            <a:ext cx="2423160" cy="283464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2043684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26"/>
              </a:spcAft>
              <a:defRPr sz="105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亮度、模糊與遮罩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87468" y="2572818"/>
            <a:ext cx="3163824" cy="262676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ckground-upload-fi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37760" y="2623110"/>
            <a:ext cx="3063240" cy="252617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307099" y="2418588"/>
            <a:ext cx="2963105" cy="2935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ackground-brightness-control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57391" y="2468880"/>
            <a:ext cx="2862521" cy="2834640"/>
          </a:xfrm>
          <a:prstGeom prst="rect">
            <a:avLst/>
          </a:prstGeom>
        </p:spPr>
      </p:pic>
      <p:sp>
        <p:nvSpPr>
          <p:cNvPr id="34" name="TextBox 33">
            <a:hlinkClick action="ppaction://hlinksldjump" r:id="rId5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03  自由背景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照片怎麼擺？顯示方式與滑桿翻譯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先選照片，再調整顯示；可用直向自拍、橫向風景或重複圖樣。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01168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畫面選項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011680"/>
            <a:ext cx="310896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2112264"/>
            <a:ext cx="287121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英文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011680"/>
            <a:ext cx="597103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2112264"/>
            <a:ext cx="5733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效果與建議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87168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78608"/>
            <a:ext cx="1773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填滿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487168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192" y="2578608"/>
            <a:ext cx="287121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Cover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487168"/>
            <a:ext cx="59710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2578608"/>
            <a:ext cx="573328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鋪滿背景；邊緣可能被裁切。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90088"/>
            <a:ext cx="201168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081528"/>
            <a:ext cx="1773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完整顯示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990088"/>
            <a:ext cx="310896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3081528"/>
            <a:ext cx="287121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Contain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990088"/>
            <a:ext cx="597103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88152" y="3081528"/>
            <a:ext cx="573328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保持比例，讓整張照片都看得到。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93008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584448"/>
            <a:ext cx="1773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重複鋪排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493008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9192" y="3584448"/>
            <a:ext cx="287121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Tile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493008"/>
            <a:ext cx="59710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3584448"/>
            <a:ext cx="573328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重複圖樣；適合小圖、紋理。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95928"/>
            <a:ext cx="201168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087368"/>
            <a:ext cx="1773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原始尺寸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995928"/>
            <a:ext cx="310896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9192" y="4087368"/>
            <a:ext cx="287121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Actual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3995928"/>
            <a:ext cx="597103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88152" y="4087368"/>
            <a:ext cx="573328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依瀏覽器解讀的原圖尺寸呈現。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498848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590288"/>
            <a:ext cx="1773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左右／上下位置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498848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2" y="4590288"/>
            <a:ext cx="287121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Position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4498848"/>
            <a:ext cx="59710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88152" y="4590288"/>
            <a:ext cx="573328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調整人物或主體所在位置。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01768"/>
            <a:ext cx="201168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093208"/>
            <a:ext cx="1773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亮度／模糊／遮罩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5001768"/>
            <a:ext cx="310896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9192" y="5093208"/>
            <a:ext cx="287121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Brightness / Blur / Overlay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5001768"/>
            <a:ext cx="597103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88152" y="5093208"/>
            <a:ext cx="573328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調整明暗、柔化及主題色覆蓋。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想讓登入文字更清楚：先用填滿，再略加模糊與遮罩；手機可使用相同控制項。</a:t>
            </a:r>
          </a:p>
        </p:txBody>
      </p:sp>
      <p:sp>
        <p:nvSpPr>
          <p:cNvPr id="54" name="TextBox 53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04  每天記帳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總覽：每天先看這四個地方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入口：登入後的「總覽」。畫面金額會依帳本、範圍與期間改變。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本月收入與支出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先看這個月進來多少、已花多少。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這個月還可以花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收入 − 存款目標 − 已花支出。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常用功能與預算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由「手動記帳／收支明細／統計」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開始，往下看分類預算與今日紀錄。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9186" y="1924812"/>
            <a:ext cx="5624250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7-dashboar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49478" y="1975104"/>
            <a:ext cx="5523666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「結餘」＝收入−支出；「還可以花」還會再扣掉你設定的每月存款目標。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04  每天記帳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手動記帳：直接填入實際金額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入口：總覽「手動記帳」，或收支明細「手動輸入實際金額」。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先確認目前的帳本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上方帳本切換器選「個人帳本」。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填日期、金額與收支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 600.50、支出；金額要大於 0。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選分類，再補店家與備註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以收據或銀行實際扣款為準。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這個流程不需要 AI 或文字解析。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6028" y="3017935"/>
            <a:ext cx="6830568" cy="1553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8-manual-confirm-car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3068227"/>
            <a:ext cx="6729984" cy="145306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手動輸入的欄位以 NT$／TWD 記錄；外幣可以先到匯率頁換算，再帶回這裡。</a:t>
            </a:r>
          </a:p>
        </p:txBody>
      </p:sp>
      <p:sp>
        <p:nvSpPr>
          <p:cNvPr id="26" name="Oval 25"/>
          <p:cNvSpPr/>
          <p:nvPr/>
        </p:nvSpPr>
        <p:spPr>
          <a:xfrm>
            <a:off x="6422690" y="3471949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2690" y="3476521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8595914" y="3471949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914" y="3476521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30" name="TextBox 29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04  每天記帳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確認入帳：按兩次，再核對明細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範例：餐飲支出 NT$600.50；第一次按鈕只顯示待確認內容。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16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先按「寫入這一筆」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按鈕會改成「再按一次寫入」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並列出金額與分類。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確認正確，再按一次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在確認狀態下再次點擊才會保存；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若改欄位，請重新核對。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看到「已寫入一筆」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到下方明細找該筆，重新整理核對；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再到總覽／統計看小數金額。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6028" y="2687797"/>
            <a:ext cx="6830568" cy="22139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8-manual-confirm-card.png"/>
          <p:cNvPicPr>
            <a:picLocks noChangeAspect="1"/>
          </p:cNvPicPr>
          <p:nvPr/>
        </p:nvPicPr>
        <p:blipFill>
          <a:blip r:embed="rId3"/>
          <a:srcRect t="26316" r="49337"/>
          <a:stretch>
            <a:fillRect/>
          </a:stretch>
        </p:blipFill>
        <p:spPr>
          <a:xfrm>
            <a:off x="4846320" y="2738089"/>
            <a:ext cx="6729984" cy="21133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600.50 會依實際小數顯示，不會四捨五入成 601；入帳來源是「手動輸入」。</a:t>
            </a:r>
          </a:p>
        </p:txBody>
      </p:sp>
      <p:sp>
        <p:nvSpPr>
          <p:cNvPr id="26" name="Oval 25"/>
          <p:cNvSpPr/>
          <p:nvPr/>
        </p:nvSpPr>
        <p:spPr>
          <a:xfrm>
            <a:off x="8262262" y="4166484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2262" y="4171056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28" name="TextBox 27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04  每天記帳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文字解析記帳：一次整理多筆收支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入口：收支明細 →「文字解析記帳」；也可從總覽「記一筆」進入。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17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用逗號或換行分筆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例如：今天薪資30000，早餐55，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捷運30，下午喝咖啡。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按「解析這段話」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系統只產生候選欄位，此時尚未入帳。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看清楚目前的解析來源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沒有設定模型時顯示「規則解析」。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下一頁補金額、核對後再確認。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6028" y="2708840"/>
            <a:ext cx="6830568" cy="21718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ragraph-inpu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2759132"/>
            <a:ext cx="6729984" cy="207125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AI／文字解析是輔助；想直接輸入實際金額，隨時改用獨立的手動記帳。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04  每天記帳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解析後：補齊缺漏，再確認寫入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逐項核對日期、金額、收入／支出、分類與店家；錯了可以直接改。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18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缺金額的項目要自己補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例如「下午喝咖啡」補 45。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金額必須大於 0。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核對後按「確認並寫入 4 筆」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不想記的項目按 × 移除；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全部不要可按「全部捨棄」。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回明細與統計驗算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此例收入 30,000、支出 130。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請確認每筆日期落在要看的月份。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42364" y="1924812"/>
            <a:ext cx="6537895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ragraph-revie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92656" y="1975104"/>
            <a:ext cx="6437311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Rule-based parsing＝規則解析；LLM parsing＝語言模型解析。依畫面實際標示介紹。</a:t>
            </a:r>
          </a:p>
        </p:txBody>
      </p:sp>
      <p:sp>
        <p:nvSpPr>
          <p:cNvPr id="26" name="Oval 25"/>
          <p:cNvSpPr/>
          <p:nvPr/>
        </p:nvSpPr>
        <p:spPr>
          <a:xfrm>
            <a:off x="8302768" y="4737088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68" y="4741660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5950918" y="5227853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50918" y="5232425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30" name="TextBox 29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04  每天記帳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收支明細：搜尋、修改與刪除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入口：總覽「收支明細」，手機也可直接點底部「明細」。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19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先縮小查詢範圍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搜尋店家或備註；選收支、來源，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必要時切換目前帳本。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點自己那筆的「修改」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核對內容後按「儲存修改」。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確定不要才「刪除」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依視窗輸入密碼確認。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「選取多筆」可一次選擇多筆。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5394" y="1924812"/>
            <a:ext cx="5171834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9-entry-list.png"/>
          <p:cNvPicPr>
            <a:picLocks noChangeAspect="1"/>
          </p:cNvPicPr>
          <p:nvPr/>
        </p:nvPicPr>
        <p:blipFill>
          <a:blip r:embed="rId2"/>
          <a:srcRect l="10981" t="15000" r="10981"/>
          <a:stretch>
            <a:fillRect/>
          </a:stretch>
        </p:blipFill>
        <p:spPr>
          <a:xfrm>
            <a:off x="5675686" y="1975104"/>
            <a:ext cx="5071250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別人的紀錄及已結算帳本不提供修改／刪除；監管可以看紀錄，不能代改。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05  財務控管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統計：看收支趨勢與花費分類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入口：總覽「統計」，手機底部也有「統計」。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20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確認帳本與可見範圍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個人或有權限的家庭資料；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數字會隨帳本切換。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選「按月」或「按年」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查看期間收入、支出及結餘。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對照分類圖與明細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查看餐飲、交通等分類占比；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加總應與同範圍明細一致。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1107" y="1924812"/>
            <a:ext cx="5200409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1-stats.png"/>
          <p:cNvPicPr>
            <a:picLocks noChangeAspect="1"/>
          </p:cNvPicPr>
          <p:nvPr/>
        </p:nvPicPr>
        <p:blipFill>
          <a:blip r:embed="rId2"/>
          <a:srcRect l="10981" t="15556" r="11054"/>
          <a:stretch>
            <a:fillRect/>
          </a:stretch>
        </p:blipFill>
        <p:spPr>
          <a:xfrm>
            <a:off x="5661399" y="1975104"/>
            <a:ext cx="5099825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找不到剛新增的支出時，先檢查日期、帳本與篩選條件，再確認有沒有完成寫入。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05  財務控管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每月預算：替常花分類設上限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 → 個人資料 → 每月預算 →「設定」。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21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找到支出分類欄位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例如餐飲填 1,000。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點其他位置，自動保存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這裡沒有額外的共同儲存按鈕。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填 0 表示不設定此分類預算。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回總覽看「預算使用狀況」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例如花 100／預算 1,000＝10%。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接近或超過上限時可調整消費。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3042" y="1924812"/>
            <a:ext cx="4636538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2-profile-budget-car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334" y="1975104"/>
            <a:ext cx="4535954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預算是支出上限；存款目標是想留下的錢。兩者用途不同，請分別設定。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05  財務控管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存錢計畫、提醒與財務建議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設定入口：個人資料；查看建議入口：總覽「財務建議」／手機底部「建議」。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57016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SAVINGS GOAL / 存款目標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每個月想存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3136392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在存錢計畫輸入 5,000。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離開欄位就會保存。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本人可隨時調整。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11680"/>
            <a:ext cx="3557016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ALERT / 提醒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花到幾成提醒我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136392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輸入比例、選適用帳本。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按「加入」，可開關或刪除。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用右上鈴鐺查看通知。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011680"/>
            <a:ext cx="3557016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ADVICE / 財務建議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產生這個月的建議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383280"/>
            <a:ext cx="3136392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先有本月記帳資料。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按按鈕後閱讀摘要。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來源依規則／模型標示。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驗算例：收入 30,000 − 目標 5,000 − 支出 130 ＝「還可以花」24,870。</a:t>
            </a:r>
          </a:p>
        </p:txBody>
      </p:sp>
      <p:sp>
        <p:nvSpPr>
          <p:cNvPr id="24" name="TextBox 23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06  國際匯率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換算匯率：先理解貨幣名稱與方向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Currency Converter＝貨幣換算器；支援多國貨幣試算，帳本仍以 TWD 記帳。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60020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136245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代碼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011680"/>
            <a:ext cx="301752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2112264"/>
            <a:ext cx="27797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中文名稱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011680"/>
            <a:ext cx="647395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112264"/>
            <a:ext cx="623620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英文名稱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87168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78608"/>
            <a:ext cx="13624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TWD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48716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2578608"/>
            <a:ext cx="27797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新臺幣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2487168"/>
            <a:ext cx="6473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578608"/>
            <a:ext cx="6236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New Taiwan Dollar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90088"/>
            <a:ext cx="160020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081528"/>
            <a:ext cx="13624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USD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990088"/>
            <a:ext cx="30175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67712" y="3081528"/>
            <a:ext cx="27797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美元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2990088"/>
            <a:ext cx="647395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081528"/>
            <a:ext cx="6236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US Dollar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93008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584448"/>
            <a:ext cx="13624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JPY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49300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7712" y="3584448"/>
            <a:ext cx="27797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日圓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3493008"/>
            <a:ext cx="6473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3584448"/>
            <a:ext cx="6236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Japanese Yen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95928"/>
            <a:ext cx="160020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087368"/>
            <a:ext cx="13624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3995928"/>
            <a:ext cx="30175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67712" y="4087368"/>
            <a:ext cx="27797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歐元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60" y="3995928"/>
            <a:ext cx="647395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85232" y="4087368"/>
            <a:ext cx="6236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Euro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498848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590288"/>
            <a:ext cx="13624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GBP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8840" y="449884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67712" y="4590288"/>
            <a:ext cx="27797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英鎊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4498848"/>
            <a:ext cx="6473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85232" y="4590288"/>
            <a:ext cx="6236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British Pound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01768"/>
            <a:ext cx="160020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093208"/>
            <a:ext cx="13624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KRW／HKD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5001768"/>
            <a:ext cx="30175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67712" y="5093208"/>
            <a:ext cx="27797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韓元／港元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66360" y="5001768"/>
            <a:ext cx="647395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5232" y="5093208"/>
            <a:ext cx="6236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South Korean Won / Hong Kong Dollar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方向很重要：「USD → TWD」是在算美元值多少新臺幣；點「互換」會反轉方向。</a:t>
            </a:r>
          </a:p>
        </p:txBody>
      </p:sp>
      <p:sp>
        <p:nvSpPr>
          <p:cNvPr id="54" name="TextBox 53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06  國際匯率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匯率試算：金額、幣別、換算結果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入口：總覽或收支明細 →「國際匯率換算」。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24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輸入原始外幣金額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例如 100.50 USD；選來源與目標。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用名稱或代碼找貨幣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可搜尋 USD、美元或 US Dollar。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需要反轉時按「互換」。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按「換算金額」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核對結果、來源與資料日期。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需要新資料時使用刷新功能。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支援 150 餘種貨幣，數量依來源變動；0 可試算，但不能新增一筆 0 元帳。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96028" y="2195690"/>
            <a:ext cx="6830568" cy="29238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6-exchange-card.png"/>
          <p:cNvPicPr>
            <a:picLocks noChangeAspect="1"/>
          </p:cNvPicPr>
          <p:nvPr/>
        </p:nvPicPr>
        <p:blipFill>
          <a:blip r:embed="rId2"/>
          <a:srcRect l="1957" t="13068" r="2174" b="44886"/>
          <a:stretch>
            <a:fillRect/>
          </a:stretch>
        </p:blipFill>
        <p:spPr>
          <a:xfrm>
            <a:off x="4846320" y="2245982"/>
            <a:ext cx="6729984" cy="2823235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1396389" y="2409433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96389" y="2414005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30" name="Oval 29"/>
          <p:cNvSpPr/>
          <p:nvPr/>
        </p:nvSpPr>
        <p:spPr>
          <a:xfrm>
            <a:off x="11388758" y="4034701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88758" y="4039273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5780438" y="4683283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0438" y="4687855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5376672"/>
            <a:ext cx="64465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0"/>
              </a:spcAft>
              <a:defRPr sz="125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換算完成後顯示金額與資料來源；判讀方式見第 26 頁。</a:t>
            </a:r>
          </a:p>
        </p:txBody>
      </p:sp>
      <p:sp>
        <p:nvSpPr>
          <p:cNvPr id="35" name="TextBox 34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06  國際匯率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換算後直接帶入記帳，再改實際扣款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一條完整流程：外幣金額 → TWD 試算 → 手動欄位 → 核對 → 正式寫入。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25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把目標幣別選為 TWD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算出結果後按「帶入手動記帳」。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其他目標需先重新換成 TWD。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核對預填的金額與備註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備註保留原幣金額、匯率與日期。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可把金額改成銀行實際扣款。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選好日期、收支與分類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按「寫入這一筆」並再按一次確認。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到明細及統計核對入帳。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6028" y="2909593"/>
            <a:ext cx="6830568" cy="177033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xchange-manual-import.png"/>
          <p:cNvPicPr>
            <a:picLocks noChangeAspect="1"/>
          </p:cNvPicPr>
          <p:nvPr/>
        </p:nvPicPr>
        <p:blipFill>
          <a:blip r:embed="rId3"/>
          <a:srcRect t="21769" b="-10884"/>
          <a:stretch>
            <a:fillRect/>
          </a:stretch>
        </p:blipFill>
        <p:spPr>
          <a:xfrm>
            <a:off x="4846320" y="2959885"/>
            <a:ext cx="6729984" cy="166974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以銀行實際扣款為準；手續費、刷卡匯差可能讓入帳金額與每日匯率試算不同。</a:t>
            </a:r>
          </a:p>
        </p:txBody>
      </p:sp>
      <p:sp>
        <p:nvSpPr>
          <p:cNvPr id="26" name="Oval 25"/>
          <p:cNvSpPr/>
          <p:nvPr/>
        </p:nvSpPr>
        <p:spPr>
          <a:xfrm>
            <a:off x="6473674" y="3408218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674" y="3412790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664292" y="4026408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4292" y="4030980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30" name="TextBox 29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06  國際匯率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如何判讀匯率？來源、日期與可用狀態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畫面提供每日參考匯率；請依來源日期判斷，不把它當銀行即時成交價。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26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先看資料來源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主來源或備援都會明示。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完全沒有可用行情時會回報不可用。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再看更新日期 Updated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顯示來源提供的資料時間。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重新整理仍有快取與刷新間隔。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最後決定實際入帳金額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買賣價差、手續費需自己核對。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帶入後改成銀行實際扣款再寫入。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6028" y="2332850"/>
            <a:ext cx="6830568" cy="29238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6-exchange-card.png"/>
          <p:cNvPicPr>
            <a:picLocks noChangeAspect="1"/>
          </p:cNvPicPr>
          <p:nvPr/>
        </p:nvPicPr>
        <p:blipFill>
          <a:blip r:embed="rId3"/>
          <a:srcRect l="1957" t="56818" r="2174" b="1136"/>
          <a:stretch>
            <a:fillRect/>
          </a:stretch>
        </p:blipFill>
        <p:spPr>
          <a:xfrm>
            <a:off x="4846320" y="2383142"/>
            <a:ext cx="6729984" cy="282323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圖中為 2026-10-15 的一次試算：100.50 USD ≈ 3,236.87 TWD；之後結果以當時行情為準。</a:t>
            </a:r>
          </a:p>
        </p:txBody>
      </p:sp>
      <p:sp>
        <p:nvSpPr>
          <p:cNvPr id="26" name="Oval 25"/>
          <p:cNvSpPr/>
          <p:nvPr/>
        </p:nvSpPr>
        <p:spPr>
          <a:xfrm>
            <a:off x="8939410" y="4553380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9410" y="4557952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7642248" y="4744139"/>
            <a:ext cx="265176" cy="265176"/>
          </a:xfrm>
          <a:prstGeom prst="ellipse">
            <a:avLst/>
          </a:prstGeom>
          <a:solidFill>
            <a:srgbClr val="BE86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2248" y="4748711"/>
            <a:ext cx="265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20"/>
              </a:spcAft>
              <a:defRPr sz="10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30" name="TextBox 29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07  家庭與帳本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家庭：建立、邀請與加入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建議用兩個展示帳號、兩個瀏覽器視窗，分別扮演家長 A 與子女 B。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27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A：建立我的家庭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總覽「加入家庭」→ 填家庭名稱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→ 按「建立」。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A：邀請家人、產生邀請碼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填給誰用，選「子女／家長」。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複製後保存，明碼只顯示一次。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B：用自己的帳號加入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加入家庭 → 用邀請碼加入 →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輸入 8 碼 → 按「加入」。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9186" y="1924812"/>
            <a:ext cx="5624250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3-famil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9478" y="1975104"/>
            <a:ext cx="5523666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也可用完整 Email 找人並送出帳號邀請；對方在家庭頁的「收到的邀請」接受。</a:t>
            </a:r>
          </a:p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07  家庭與帳本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家長照看：看得到，不代表能代改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在子女卡片按「開始照看」，再按「看紀錄」；監管關係需要明確建立。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457200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433425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操作情境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11680"/>
            <a:ext cx="141732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2112264"/>
            <a:ext cx="11795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是否允許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59" y="2011680"/>
            <a:ext cx="510235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2112264"/>
            <a:ext cx="486460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原因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87168"/>
            <a:ext cx="4572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78608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本人改自己的未結算紀錄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487168"/>
            <a:ext cx="141732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257860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可以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2487168"/>
            <a:ext cx="510235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2578608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本人對自己的帳務負責。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72384"/>
            <a:ext cx="4572000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163824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家長查看已照看子女紀錄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3072384"/>
            <a:ext cx="1417320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9512" y="3163824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可以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59" y="3072384"/>
            <a:ext cx="5102352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1" y="3163824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明確建立的監管關係。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57600"/>
            <a:ext cx="4572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749039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家長替子女修改／刪除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3657600"/>
            <a:ext cx="141732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9512" y="3749039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不可以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59" y="3657600"/>
            <a:ext cx="510235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1" y="3749039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監管唯讀，不是登入對方帳號。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42816"/>
            <a:ext cx="4572000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334256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子女查看家長私人帳務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242816"/>
            <a:ext cx="1417320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9512" y="4334256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不可以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59" y="4242816"/>
            <a:ext cx="5102352" cy="585216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4334256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家庭角色不等於全部資料公開。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28032"/>
            <a:ext cx="4572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919472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共享帳本的成員讀紀錄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4828032"/>
            <a:ext cx="141732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9512" y="4919472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依帳本權限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59" y="4828032"/>
            <a:ext cx="510235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56831" y="4919472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限共享範圍；不擴及全部私人帳務。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「全家」僅彙整你有權查看的資料；記帳仍寫入自己的帳號。存款目標與預算只能本人設定。</a:t>
            </a:r>
          </a:p>
        </p:txBody>
      </p:sp>
      <p:sp>
        <p:nvSpPr>
          <p:cNvPr id="48" name="TextBox 47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07  家庭與帳本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帳本：把日常、旅遊與共用支出分開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入口：總覽「帳本」。上方帳本切換器可切換檢視與記帳對象。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29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開一本帳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按「開一本」，填名字、種類、顏色。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活動帳本另填結束日，再按建立。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46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需要共用時加入家人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先加入同一家庭；展開帳本，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由建立者在「成員 → ＋ 加人」選人。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95020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47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看紀錄，活動結束再結算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帳本內可設月目標。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結算需密碼，之後紀錄只能讀。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9186" y="1924812"/>
            <a:ext cx="5624250" cy="3739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5-book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9478" y="1975104"/>
            <a:ext cx="5523666" cy="363931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封存可復原；結算會鎖定寫入。要繼續記新支出，請選另一個可寫入的帳本。</a:t>
            </a:r>
          </a:p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08  手機與個人設定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手機版：相同功能，改用底部導覽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手機瀏覽器開啟你部署完成的 HTTPS 網址；直向操作即可，不需要安裝 App。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30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45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常用操作在底部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04872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總覽／明細／記一筆／統計／建議。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17520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2209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9923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其他功能回到總覽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92424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家庭、帳本、個人資料、匯率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都在「常用功能」。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005072"/>
            <a:ext cx="310896" cy="310896"/>
          </a:xfrm>
          <a:prstGeom prst="ellipse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096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8678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21"/>
              </a:spcAft>
              <a:defRPr sz="185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背景也能選相簿或拍照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79976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小數金額用數字鍵盤填寫；</a:t>
            </a:r>
          </a:p>
          <a:p>
            <a:pPr>
              <a:lnSpc>
                <a:spcPct val="118000"/>
              </a:lnSpc>
              <a:spcAft>
                <a:spcPts val="181"/>
              </a:spcAft>
              <a:defRPr sz="151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長表單向下滑動再確認。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4819" y="1924812"/>
            <a:ext cx="1786481" cy="3749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8-dashboard-mobi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95111" y="1975104"/>
            <a:ext cx="1685897" cy="36484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233739" y="1924812"/>
            <a:ext cx="1786481" cy="3749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3-login-mobil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284031" y="1975104"/>
            <a:ext cx="1685897" cy="36484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電腦的 localhost 不是手機網址；目前尚未建立公開站台，部署步驟見第 35 頁。</a:t>
            </a:r>
          </a:p>
        </p:txBody>
      </p:sp>
      <p:sp>
        <p:nvSpPr>
          <p:cNvPr id="28" name="TextBox 27">
            <a:hlinkClick action="ppaction://hlinksldjump" r:id="rId5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08  手機與個人設定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個人資料與登入安全怎麼調整？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入口：總覽 →「個人資料」；右上角鈴鐺可查看通知。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83464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我要做的事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8257031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112264"/>
            <a:ext cx="8019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介面操作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2834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578608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改名字／出生年份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487168"/>
            <a:ext cx="8257031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2578608"/>
            <a:ext cx="8019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修改欄位後，按「儲存」。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9232"/>
            <a:ext cx="283464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90672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換頭像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999232"/>
            <a:ext cx="8257031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3090672"/>
            <a:ext cx="8019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按「換照片」；這與登入背景照片不同。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11296"/>
            <a:ext cx="2834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602736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更改密碼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511296"/>
            <a:ext cx="8257031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3602736"/>
            <a:ext cx="8019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填目前密碼與至少 8 字的新密碼 →「更改密碼」。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283464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114800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忘記密碼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023360"/>
            <a:ext cx="8257031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4114800"/>
            <a:ext cx="8019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登入頁按「忘記密碼？」；依郵件／開發提示重設。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35424"/>
            <a:ext cx="2834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626864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看登入裝置／退出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535424"/>
            <a:ext cx="8257031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4626864"/>
            <a:ext cx="8019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在「登入中的裝置」核對；可「登出所有裝置」。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47488"/>
            <a:ext cx="283464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5138928"/>
            <a:ext cx="2596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換登入後的畫面主題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5047488"/>
            <a:ext cx="8257031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2152" y="5138928"/>
            <a:ext cx="8019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92"/>
              </a:spcAft>
              <a:defRPr sz="16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點主題卡片立即套用；Email 不能在此直接修改。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在共用電腦用完請登出；「登出所有裝置」也會讓目前這台重新登入。</a:t>
            </a:r>
          </a:p>
        </p:txBody>
      </p:sp>
      <p:sp>
        <p:nvSpPr>
          <p:cNvPr id="40" name="TextBox 39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08  手機與個人設定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不懂名詞或想再練習：到教學中心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總覽的「操作教學」「專題介紹」「中英名詞」，提供可直接閱讀的說明。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93192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36941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畫面用語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715975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112264"/>
            <a:ext cx="692200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中文意思／用途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578608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Ledger / Transaction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2487168"/>
            <a:ext cx="71597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2578608"/>
            <a:ext cx="69220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帳本／一筆收支紀錄。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0088"/>
            <a:ext cx="39319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81528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Income / Expense / Balance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990088"/>
            <a:ext cx="715975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1" y="3081528"/>
            <a:ext cx="69220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收入／支出／結餘。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84448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Budget / Savings 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3493008"/>
            <a:ext cx="71597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3584448"/>
            <a:ext cx="69220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分類預算上限／每月存款目標。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95928"/>
            <a:ext cx="39319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087368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Verification / Session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59" y="3995928"/>
            <a:ext cx="715975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4087368"/>
            <a:ext cx="69220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驗證信箱所有權／登入工作階段。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98848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590288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Exchange Rate / Base Currency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59" y="4498848"/>
            <a:ext cx="71597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4590288"/>
            <a:ext cx="69220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兩種貨幣的換算比例／統計使用的本位幣。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01768"/>
            <a:ext cx="39319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5093208"/>
            <a:ext cx="36941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Frontend / Backend / 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59" y="5001768"/>
            <a:ext cx="715975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1" y="5093208"/>
            <a:ext cx="69220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瀏覽器介面／處理規則與權限的服務／保存資料。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使用者手冊路徑是 /docs/index.html；/docs 是工程用 API 文件，兩者用途不同。</a:t>
            </a:r>
          </a:p>
        </p:txBody>
      </p:sp>
      <p:sp>
        <p:nvSpPr>
          <p:cNvPr id="40" name="TextBox 39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09  練習與排錯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照做一輪：20 分鐘完成第一次使用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建議用新展示帳號，避免已有資料影響下列預期數字。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14884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191109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練習順序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011680"/>
            <a:ext cx="475488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112264"/>
            <a:ext cx="451713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做什麼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011680"/>
            <a:ext cx="418795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2112264"/>
            <a:ext cx="395020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完成時應看到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87168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78608"/>
            <a:ext cx="1911095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① 啟動與帳號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487168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2578608"/>
            <a:ext cx="45171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啟動 → 註冊 → 驗證 → 完成設定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487168"/>
            <a:ext cx="4187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2" y="2578608"/>
            <a:ext cx="395020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有個人帳本，可進總覽。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81528"/>
            <a:ext cx="2148840" cy="59436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172968"/>
            <a:ext cx="1911095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② 手動記四筆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081528"/>
            <a:ext cx="4754880" cy="59436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3172968"/>
            <a:ext cx="45171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收入30,000；支出55、30、45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3081528"/>
            <a:ext cx="4187952" cy="59436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2" y="3172968"/>
            <a:ext cx="395020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收入30,000／支出130。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75888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767328"/>
            <a:ext cx="1911095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③ 設目標與預算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3675888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3767328"/>
            <a:ext cx="45171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月存5,000；餐飲預算1,000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3675888"/>
            <a:ext cx="4187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2" y="3767328"/>
            <a:ext cx="395020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可花24,870；餐飲10%。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70248"/>
            <a:ext cx="2148840" cy="59436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361688"/>
            <a:ext cx="1911095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④ 試算海外支出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4270248"/>
            <a:ext cx="4754880" cy="59436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6352" y="4361688"/>
            <a:ext cx="45171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100 USD → TWD，先不入帳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4270248"/>
            <a:ext cx="4187952" cy="59436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2" y="4361688"/>
            <a:ext cx="395020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看到來源、日期與換算結果。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64608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956048"/>
            <a:ext cx="1911095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⑤ 保存與重啟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4864608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16352" y="4956048"/>
            <a:ext cx="45171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換照片、重整；停止後再啟動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4864608"/>
            <a:ext cx="4187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1232" y="4956048"/>
            <a:ext cx="395020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照片保留；四筆紀錄仍在。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四筆金額的日期設在本月，55 與 45 選餐飲、30 選交通。練習解析時別重複入同一筆帳。</a:t>
            </a:r>
          </a:p>
        </p:txBody>
      </p:sp>
      <p:sp>
        <p:nvSpPr>
          <p:cNvPr id="48" name="TextBox 47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09  練習與排錯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卡住時，先對照這張問題排除表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先讀畫面的具體錯誤，再從相同的啟動模式與帳號檢查。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42900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319125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遇到的情況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011680"/>
            <a:ext cx="766267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1" y="2112264"/>
            <a:ext cx="742492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先檢查什麼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3429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578608"/>
            <a:ext cx="3191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開不了畫面／連不到後端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2487168"/>
            <a:ext cx="766267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1" y="2578608"/>
            <a:ext cx="7424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終端機是否仍在運作；使用它印出的完整網址。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9232"/>
            <a:ext cx="342900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90672"/>
            <a:ext cx="3191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埠號被占用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999232"/>
            <a:ext cx="7662672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1" y="3090672"/>
            <a:ext cx="7424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先停掉自己的舊服務；或指定 --port／--api-port。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11296"/>
            <a:ext cx="3429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602736"/>
            <a:ext cx="3191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沒有收到驗證信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3511296"/>
            <a:ext cx="766267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3602736"/>
            <a:ext cx="7424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本機是否明示未寄信；正式環境查垃圾郵件與寄信設定。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342900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114800"/>
            <a:ext cx="3191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按寫入卻沒新增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4023360"/>
            <a:ext cx="7662672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96511" y="4114800"/>
            <a:ext cx="7424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第一次只進確認狀態；核對後再按一次，等成功提示。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35424"/>
            <a:ext cx="34290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626864"/>
            <a:ext cx="3191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看不到紀錄或統計不同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4535424"/>
            <a:ext cx="766267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6511" y="4626864"/>
            <a:ext cx="7424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查日期、帳本、收支／來源篩選，及是否真的確認寫入。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47488"/>
            <a:ext cx="3429000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5138928"/>
            <a:ext cx="3191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無法解析／換匯／保存照片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7639" y="5047488"/>
            <a:ext cx="7662672" cy="512064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96511" y="5138928"/>
            <a:ext cx="7424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86"/>
              </a:spcAft>
              <a:defRPr sz="155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看規則備援與錯誤提示；查網路、來源時間或瀏覽器空間。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修改埠號時，要複製啟動器印出的完整 ?api= 網址；不要用清空資料庫來處理連線問題。</a:t>
            </a:r>
          </a:p>
        </p:txBody>
      </p:sp>
      <p:sp>
        <p:nvSpPr>
          <p:cNvPr id="40" name="TextBox 39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10  發表與上線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讓手機與其他人使用：還需要公開部署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目前提供完整程式與部署設定；尚未替你建立公開網站或驗證真實寄信。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57016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① GITHUB →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部署自己的專題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3136392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依部署指南檢閱並保存程式。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以 render.yaml 建立 Blueprint。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使用 PostgreSQL 保存資料。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11680"/>
            <a:ext cx="3557016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② MAIL / 寄信服務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啟用正式信箱驗證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136392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平台安全欄位設定 Brevo 金鑰。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MAIL_FROM 使用驗證寄件人。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APP_BASE_URL 填自己的網址。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011680"/>
            <a:ext cx="3557016" cy="3419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9456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③ HTTPS / 公開網址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79192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76"/>
              </a:spcAft>
              <a:defRPr sz="23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拿手機真實驗收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383280"/>
            <a:ext cx="3136392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開啟自己的 HTTPS 網址。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新帳號真正收信並驗證。</a:t>
            </a:r>
          </a:p>
          <a:p>
            <a:pPr>
              <a:lnSpc>
                <a:spcPct val="118000"/>
              </a:lnSpc>
              <a:spcAft>
                <a:spcPts val="216"/>
              </a:spcAft>
              <a:defRPr sz="18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記帳、重啟後核對資料仍在。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完整部署步驟：docs/05-部署指南.md。模型服務可選；沒有設定時如實展示「規則解析」。</a:t>
            </a:r>
          </a:p>
        </p:txBody>
      </p:sp>
      <p:sp>
        <p:nvSpPr>
          <p:cNvPr id="24" name="TextBox 23">
            <a:hlinkClick action="ppaction://hlinksldjump" r:id="rId3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38328"/>
            <a:ext cx="100584" cy="265176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31"/>
              </a:spcAft>
              <a:defRPr sz="11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FamBudget  /  家庭記帳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31"/>
              </a:spcAft>
              <a:defRPr sz="11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10  發表與上線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59"/>
              </a:spcAft>
              <a:defRPr sz="3000" b="1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發表當天：用 8 分鐘走完重點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2"/>
              </a:spcAft>
              <a:defRPr sz="135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先完成第 33 頁練習、準備兩個展示帳號；正式收信請提前驗收。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62716D"/>
                </a:solidFill>
                <a:latin typeface="Noto Sans CJK TC"/>
              </a:defRPr>
            </a:pPr>
            <a:r>
              <a:rPr lang="zh-TW"/>
              <a:t>介紹與操作使用手冊  ·  桌面／手機皆適用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144"/>
              </a:spcAft>
              <a:defRPr sz="1200" b="1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41732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12264"/>
            <a:ext cx="117957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011680"/>
            <a:ext cx="4297680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1" y="2112264"/>
            <a:ext cx="405993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展示內容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011680"/>
            <a:ext cx="5376672" cy="475488"/>
          </a:xfrm>
          <a:prstGeom prst="rect">
            <a:avLst/>
          </a:prstGeom>
          <a:solidFill>
            <a:srgbClr val="17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12264"/>
            <a:ext cx="513892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1">
                <a:solidFill>
                  <a:srgbClr val="FFFFFF"/>
                </a:solidFill>
                <a:latin typeface="Noto Sans CJK TC"/>
              </a:defRPr>
            </a:pPr>
            <a:r>
              <a:rPr lang="zh-TW"/>
              <a:t>一句話介紹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87168"/>
            <a:ext cx="1417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78608"/>
            <a:ext cx="11795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0:00–1:00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487168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1" y="2578608"/>
            <a:ext cx="4059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登入背景＋信箱驗證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487168"/>
            <a:ext cx="53766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578608"/>
            <a:ext cx="513892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登入可自訂背景，信箱驗證確認帳號所有權。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90088"/>
            <a:ext cx="14173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081528"/>
            <a:ext cx="11795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1:00–2:30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990088"/>
            <a:ext cx="429768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1" y="3081528"/>
            <a:ext cx="4059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手動記一筆＋文字解析核對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90088"/>
            <a:ext cx="537667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513892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實際金額可直接填；文字解析後由人確認。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93008"/>
            <a:ext cx="1417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584448"/>
            <a:ext cx="11795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2:30–4:00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3493008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84831" y="3584448"/>
            <a:ext cx="4059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明細＋統計＋預算與目標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493008"/>
            <a:ext cx="53766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584448"/>
            <a:ext cx="513892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從每筆消費追到分類，再看可花金額。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95928"/>
            <a:ext cx="14173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087368"/>
            <a:ext cx="11795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4:00–5:30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3995928"/>
            <a:ext cx="429768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4831" y="4087368"/>
            <a:ext cx="4059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換匯＋帶入手動記帳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995928"/>
            <a:ext cx="537667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4087368"/>
            <a:ext cx="513892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每日參考匯率預填，再改成實際扣款。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498848"/>
            <a:ext cx="1417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590288"/>
            <a:ext cx="11795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5:30–7:00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65960" y="4498848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84831" y="4590288"/>
            <a:ext cx="4059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家庭A/B＋監管與共享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498848"/>
            <a:ext cx="53766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4590288"/>
            <a:ext cx="513892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能看哪些資料由權限決定，照看是唯讀。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01768"/>
            <a:ext cx="141732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093208"/>
            <a:ext cx="117957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7:00–8:00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5001768"/>
            <a:ext cx="4297680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1" y="5093208"/>
            <a:ext cx="40599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手機畫面＋成果與限制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001768"/>
            <a:ext cx="5376672" cy="50292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5093208"/>
            <a:ext cx="513892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79"/>
              </a:spcAft>
              <a:defRPr sz="1500" b="0">
                <a:solidFill>
                  <a:srgbClr val="18362F"/>
                </a:solidFill>
                <a:latin typeface="Noto Sans CJK TC"/>
              </a:defRPr>
            </a:pPr>
            <a:r>
              <a:rPr lang="zh-TW"/>
              <a:t>手機可操作；本位幣TWD，來源與狀態如實呈現。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760720"/>
            <a:ext cx="11091672" cy="484632"/>
          </a:xfrm>
          <a:prstGeom prst="roundRect">
            <a:avLst>
              <a:gd name="adj" fmla="val 12000"/>
            </a:avLst>
          </a:prstGeom>
          <a:solidFill>
            <a:srgbClr val="E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5852159"/>
            <a:ext cx="1079906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56"/>
              </a:spcAft>
              <a:defRPr sz="13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發表前確認：可登入、可入帳、可驗算、手機可連線；備妥這份 PDF 與測試截圖。</a:t>
            </a:r>
          </a:p>
        </p:txBody>
      </p:sp>
      <p:sp>
        <p:nvSpPr>
          <p:cNvPr id="54" name="TextBox 53">
            <a:hlinkClick action="ppaction://hlinksldjump" r:id="rId2"/>
          </p:cNvPr>
          <p:cNvSpPr txBox="1"/>
          <p:nvPr/>
        </p:nvSpPr>
        <p:spPr>
          <a:xfrm>
            <a:off x="987552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08"/>
              </a:spcAft>
              <a:defRPr sz="900" b="0">
                <a:solidFill>
                  <a:srgbClr val="176B5D"/>
                </a:solidFill>
                <a:latin typeface="Noto Sans CJK TC"/>
              </a:defRPr>
            </a:pPr>
            <a:r>
              <a:rPr lang="zh-TW"/>
              <a:t>回目錄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FamBudget｜介紹與操作使用手冊</dc:title>
  <dc:subject>啟動、註冊、信箱驗證、背景、記帳、統計、匯率、家庭與手機操作</dc:subject>
  <dc:creator>FamBudget 專題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zh-TW</dc:language>
</cp:coreProperties>
</file>